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1"/>
  </p:sldMasterIdLst>
  <p:notesMasterIdLst>
    <p:notesMasterId r:id="rId18"/>
  </p:notesMasterIdLst>
  <p:sldIdLst>
    <p:sldId id="256" r:id="rId2"/>
    <p:sldId id="257" r:id="rId3"/>
    <p:sldId id="258" r:id="rId4"/>
    <p:sldId id="260" r:id="rId5"/>
    <p:sldId id="261" r:id="rId6"/>
    <p:sldId id="259" r:id="rId7"/>
    <p:sldId id="262" r:id="rId8"/>
    <p:sldId id="263" r:id="rId9"/>
    <p:sldId id="264" r:id="rId10"/>
    <p:sldId id="265" r:id="rId11"/>
    <p:sldId id="266" r:id="rId12"/>
    <p:sldId id="268" r:id="rId13"/>
    <p:sldId id="267" r:id="rId14"/>
    <p:sldId id="269" r:id="rId15"/>
    <p:sldId id="270" r:id="rId16"/>
    <p:sldId id="271"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7481" autoAdjust="0"/>
  </p:normalViewPr>
  <p:slideViewPr>
    <p:cSldViewPr snapToGrid="0" snapToObjects="1">
      <p:cViewPr varScale="1">
        <p:scale>
          <a:sx n="113" d="100"/>
          <a:sy n="113" d="100"/>
        </p:scale>
        <p:origin x="47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1D5D26-E34E-428A-AB88-514DA861F52E}" type="datetimeFigureOut">
              <a:rPr lang="en-US" smtClean="0"/>
              <a:t>7/23/2026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8CBD29-0FFE-4D22-8177-35B522335DC4}" type="slidenum">
              <a:rPr lang="en-US" smtClean="0"/>
              <a:t>‹#›</a:t>
            </a:fld>
            <a:endParaRPr lang="en-US"/>
          </a:p>
        </p:txBody>
      </p:sp>
    </p:spTree>
    <p:extLst>
      <p:ext uri="{BB962C8B-B14F-4D97-AF65-F5344CB8AC3E}">
        <p14:creationId xmlns:p14="http://schemas.microsoft.com/office/powerpoint/2010/main" val="2579853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a:t>
            </a:r>
          </a:p>
          <a:p>
            <a:r>
              <a:t>Explain the concepts in simple language with real-life examples for slide 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609601"/>
            <a:ext cx="10360501"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828324" y="4953000"/>
            <a:ext cx="8532178"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Slide Number Placeholder 7"/>
          <p:cNvSpPr>
            <a:spLocks noGrp="1"/>
          </p:cNvSpPr>
          <p:nvPr>
            <p:ph type="sldNum" sz="quarter" idx="11"/>
          </p:nvPr>
        </p:nvSpPr>
        <p:spPr/>
        <p:txBody>
          <a:bodyPr/>
          <a:lstStyle/>
          <a:p>
            <a:fld id="{C1FF6DA9-008F-8B48-92A6-B652298478B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1371601"/>
            <a:ext cx="10360501"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62833" y="4068764"/>
            <a:ext cx="10360501"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7" name="Oval 6"/>
          <p:cNvSpPr/>
          <p:nvPr/>
        </p:nvSpPr>
        <p:spPr>
          <a:xfrm>
            <a:off x="5992839" y="3924300"/>
            <a:ext cx="113000"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6259469" y="3924300"/>
            <a:ext cx="113000"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727479" y="3924300"/>
            <a:ext cx="113000"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5986" y="1600201"/>
            <a:ext cx="5383398"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9" name="Content Placeholder 8"/>
          <p:cNvSpPr>
            <a:spLocks noGrp="1"/>
          </p:cNvSpPr>
          <p:nvPr>
            <p:ph sz="quarter" idx="13"/>
          </p:nvPr>
        </p:nvSpPr>
        <p:spPr>
          <a:xfrm>
            <a:off x="487553" y="1600200"/>
            <a:ext cx="5387461"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600200"/>
            <a:ext cx="5385514"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95987" y="1600200"/>
            <a:ext cx="5387630"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1" name="Content Placeholder 10"/>
          <p:cNvSpPr>
            <a:spLocks noGrp="1"/>
          </p:cNvSpPr>
          <p:nvPr>
            <p:ph sz="quarter" idx="13"/>
          </p:nvPr>
        </p:nvSpPr>
        <p:spPr>
          <a:xfrm>
            <a:off x="609441" y="2212848"/>
            <a:ext cx="5387461"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228489" y="2212849"/>
            <a:ext cx="5387461"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4066" y="266700"/>
            <a:ext cx="4010039"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958600" y="273051"/>
            <a:ext cx="665941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4066" y="2438401"/>
            <a:ext cx="4010039"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8852" y="228600"/>
            <a:ext cx="7613782"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2010311" y="1143000"/>
            <a:ext cx="8070863"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238852" y="5810250"/>
            <a:ext cx="7613782"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0"/>
            <a:ext cx="10969943"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82254" y="6356351"/>
            <a:ext cx="2780576"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878659" y="6356351"/>
            <a:ext cx="3796311"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11388072" y="6356351"/>
            <a:ext cx="74910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1FF6DA9-008F-8B48-92A6-B652298478BF}" type="slidenum">
              <a:rPr lang="en-US" smtClean="0"/>
              <a:t>‹#›</a:t>
            </a:fld>
            <a:endParaRPr lang="en-US"/>
          </a:p>
        </p:txBody>
      </p:sp>
      <p:sp>
        <p:nvSpPr>
          <p:cNvPr id="7" name="Oval 6"/>
          <p:cNvSpPr/>
          <p:nvPr/>
        </p:nvSpPr>
        <p:spPr>
          <a:xfrm>
            <a:off x="11274077" y="6499384"/>
            <a:ext cx="113000"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628" y="6499384"/>
            <a:ext cx="113000"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010" y="1236784"/>
            <a:ext cx="10969943" cy="1600200"/>
          </a:xfrm>
        </p:spPr>
        <p:txBody>
          <a:bodyPr/>
          <a:lstStyle/>
          <a:p>
            <a:r>
              <a:rPr lang="en-US" dirty="0"/>
              <a:t>CS-5615: Information Security</a:t>
            </a:r>
            <a:endParaRPr dirty="0"/>
          </a:p>
        </p:txBody>
      </p:sp>
      <p:sp>
        <p:nvSpPr>
          <p:cNvPr id="3" name="TextBox 2"/>
          <p:cNvSpPr txBox="1"/>
          <p:nvPr/>
        </p:nvSpPr>
        <p:spPr>
          <a:xfrm>
            <a:off x="2719753" y="3595858"/>
            <a:ext cx="4196861" cy="1692771"/>
          </a:xfrm>
          <a:prstGeom prst="rect">
            <a:avLst/>
          </a:prstGeom>
          <a:noFill/>
        </p:spPr>
        <p:txBody>
          <a:bodyPr wrap="square">
            <a:spAutoFit/>
          </a:bodyPr>
          <a:lstStyle/>
          <a:p>
            <a:pPr>
              <a:defRPr sz="2800" b="1"/>
            </a:pPr>
            <a:br>
              <a:rPr dirty="0"/>
            </a:br>
            <a:r>
              <a:rPr lang="en-US" dirty="0"/>
              <a:t>				</a:t>
            </a:r>
            <a:r>
              <a:rPr sz="4800" dirty="0">
                <a:solidFill>
                  <a:schemeClr val="accent3">
                    <a:lumMod val="50000"/>
                  </a:schemeClr>
                </a:solidFill>
              </a:rPr>
              <a:t>Unit-I</a:t>
            </a:r>
            <a:br>
              <a:rPr dirty="0"/>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6815015" cy="1969477"/>
          </a:xfrm>
        </p:spPr>
        <p:txBody>
          <a:bodyPr/>
          <a:lstStyle/>
          <a:p>
            <a:r>
              <a:rPr lang="en-US" dirty="0"/>
              <a:t>What is Information ?</a:t>
            </a:r>
          </a:p>
        </p:txBody>
      </p:sp>
      <p:sp>
        <p:nvSpPr>
          <p:cNvPr id="3" name="Rectangle 1"/>
          <p:cNvSpPr>
            <a:spLocks noChangeArrowheads="1"/>
          </p:cNvSpPr>
          <p:nvPr/>
        </p:nvSpPr>
        <p:spPr bwMode="auto">
          <a:xfrm>
            <a:off x="171938" y="2217952"/>
            <a:ext cx="769815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b="1" dirty="0">
              <a:latin typeface="Arial" charset="0"/>
              <a:cs typeface="Arial" charset="0"/>
            </a:endParaRPr>
          </a:p>
          <a:p>
            <a:pPr marL="28575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Arial" charset="0"/>
                <a:cs typeface="Arial" charset="0"/>
              </a:rPr>
              <a:t>Information is </a:t>
            </a:r>
            <a:r>
              <a:rPr lang="en-US" altLang="en-US" b="1" dirty="0">
                <a:latin typeface="Arial" charset="0"/>
                <a:cs typeface="Arial" charset="0"/>
              </a:rPr>
              <a:t>processed</a:t>
            </a:r>
            <a:r>
              <a:rPr lang="en-US" altLang="en-US" dirty="0">
                <a:latin typeface="Arial" charset="0"/>
                <a:cs typeface="Arial" charset="0"/>
              </a:rPr>
              <a:t>, </a:t>
            </a:r>
            <a:r>
              <a:rPr lang="en-US" altLang="en-US" b="1" dirty="0">
                <a:latin typeface="Arial" charset="0"/>
                <a:cs typeface="Arial" charset="0"/>
              </a:rPr>
              <a:t>organized</a:t>
            </a:r>
            <a:r>
              <a:rPr lang="en-US" altLang="en-US" dirty="0">
                <a:latin typeface="Arial" charset="0"/>
                <a:cs typeface="Arial" charset="0"/>
              </a:rPr>
              <a:t>, and </a:t>
            </a:r>
            <a:r>
              <a:rPr lang="en-US" altLang="en-US" b="1" dirty="0">
                <a:latin typeface="Arial" charset="0"/>
                <a:cs typeface="Arial" charset="0"/>
              </a:rPr>
              <a:t>meaningful</a:t>
            </a:r>
            <a:r>
              <a:rPr lang="en-US" altLang="en-US" dirty="0">
                <a:latin typeface="Arial" charset="0"/>
                <a:cs typeface="Arial" charset="0"/>
              </a:rPr>
              <a:t> </a:t>
            </a:r>
            <a:r>
              <a:rPr lang="en-US" altLang="en-US" b="1" dirty="0">
                <a:latin typeface="Arial" charset="0"/>
                <a:cs typeface="Arial" charset="0"/>
              </a:rPr>
              <a:t>data</a:t>
            </a:r>
            <a:r>
              <a:rPr lang="en-US" altLang="en-US" dirty="0">
                <a:latin typeface="Arial" charset="0"/>
                <a:cs typeface="Arial" charset="0"/>
              </a:rPr>
              <a:t> that is useful for decision-making.</a:t>
            </a:r>
          </a:p>
          <a:p>
            <a:pPr marL="285750" indent="-285750" defTabSz="914400" eaLnBrk="0" fontAlgn="base" hangingPunct="0">
              <a:lnSpc>
                <a:spcPct val="150000"/>
              </a:lnSpc>
              <a:spcBef>
                <a:spcPct val="0"/>
              </a:spcBef>
              <a:spcAft>
                <a:spcPct val="0"/>
              </a:spcAft>
              <a:buFont typeface="Arial" panose="020B0604020202020204" pitchFamily="34" charset="0"/>
              <a:buChar char="•"/>
            </a:pPr>
            <a:r>
              <a:rPr lang="en-US" altLang="en-US" dirty="0">
                <a:latin typeface="Arial" charset="0"/>
                <a:cs typeface="Arial" charset="0"/>
              </a:rPr>
              <a:t>Information is data that has been processed to provide meaning and value.</a:t>
            </a:r>
          </a:p>
        </p:txBody>
      </p:sp>
      <p:sp>
        <p:nvSpPr>
          <p:cNvPr id="4" name="Rectangle 3"/>
          <p:cNvSpPr/>
          <p:nvPr/>
        </p:nvSpPr>
        <p:spPr>
          <a:xfrm>
            <a:off x="8628185" y="1622700"/>
            <a:ext cx="6092825" cy="2862322"/>
          </a:xfrm>
          <a:prstGeom prst="rect">
            <a:avLst/>
          </a:prstGeom>
        </p:spPr>
        <p:txBody>
          <a:bodyPr>
            <a:spAutoFit/>
          </a:bodyPr>
          <a:lstStyle/>
          <a:p>
            <a:r>
              <a:rPr lang="en-US" dirty="0"/>
              <a:t>Raw Data</a:t>
            </a:r>
          </a:p>
          <a:p>
            <a:r>
              <a:rPr lang="en-US" dirty="0"/>
              <a:t>   │</a:t>
            </a:r>
          </a:p>
          <a:p>
            <a:r>
              <a:rPr lang="en-US" dirty="0"/>
              <a:t>   ▼</a:t>
            </a:r>
          </a:p>
          <a:p>
            <a:r>
              <a:rPr lang="en-US" dirty="0"/>
              <a:t>Processing</a:t>
            </a:r>
          </a:p>
          <a:p>
            <a:r>
              <a:rPr lang="en-US" dirty="0"/>
              <a:t>   │</a:t>
            </a:r>
          </a:p>
          <a:p>
            <a:r>
              <a:rPr lang="en-US" dirty="0"/>
              <a:t>   ▼</a:t>
            </a:r>
          </a:p>
          <a:p>
            <a:r>
              <a:rPr lang="en-US" dirty="0"/>
              <a:t>Meaningful Information</a:t>
            </a:r>
          </a:p>
          <a:p>
            <a:r>
              <a:rPr lang="en-US" dirty="0"/>
              <a:t>   │</a:t>
            </a:r>
          </a:p>
          <a:p>
            <a:r>
              <a:rPr lang="en-US" dirty="0"/>
              <a:t>   ▼</a:t>
            </a:r>
          </a:p>
          <a:p>
            <a:r>
              <a:rPr lang="en-US" dirty="0"/>
              <a:t>Decision Making</a:t>
            </a:r>
          </a:p>
        </p:txBody>
      </p:sp>
    </p:spTree>
    <p:extLst>
      <p:ext uri="{BB962C8B-B14F-4D97-AF65-F5344CB8AC3E}">
        <p14:creationId xmlns:p14="http://schemas.microsoft.com/office/powerpoint/2010/main" val="2966016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6815015" cy="1969477"/>
          </a:xfrm>
        </p:spPr>
        <p:txBody>
          <a:bodyPr/>
          <a:lstStyle/>
          <a:p>
            <a:r>
              <a:rPr lang="en-US" dirty="0"/>
              <a:t>What is Security?</a:t>
            </a:r>
          </a:p>
        </p:txBody>
      </p:sp>
      <p:sp>
        <p:nvSpPr>
          <p:cNvPr id="5" name="TextBox 4"/>
          <p:cNvSpPr txBox="1"/>
          <p:nvPr/>
        </p:nvSpPr>
        <p:spPr>
          <a:xfrm>
            <a:off x="648677" y="2211754"/>
            <a:ext cx="11105661" cy="3970318"/>
          </a:xfrm>
          <a:prstGeom prst="rect">
            <a:avLst/>
          </a:prstGeom>
          <a:noFill/>
        </p:spPr>
        <p:txBody>
          <a:bodyPr wrap="square" rtlCol="0">
            <a:spAutoFit/>
          </a:bodyPr>
          <a:lstStyle/>
          <a:p>
            <a:pPr marL="285750" indent="-285750">
              <a:buFont typeface="Arial" panose="020B0604020202020204" pitchFamily="34" charset="0"/>
              <a:buChar char="•"/>
            </a:pPr>
            <a:r>
              <a:rPr lang="en-US" dirty="0"/>
              <a:t>Security is the process of protecting valuable assets, information, systems, networks, and computing resources against unauthorized access, disclosure, modification, destruction, or disruption. The primary objective of security is to ensure that information and resources remain protected from both internal and external threats while maintaining their confidentiality, integrity, and availability.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Security is not merely the implementation of locks, passwords, or firewalls. It is a continuous process that involves identifying assets, assessing risks, implementing appropriate controls, monitoring systems, and responding to security incidents.</a:t>
            </a:r>
          </a:p>
          <a:p>
            <a:pPr marL="285750" indent="-285750">
              <a:buFont typeface="Arial" panose="020B0604020202020204" pitchFamily="34" charset="0"/>
              <a:buChar char="•"/>
            </a:pPr>
            <a:endParaRPr lang="en-US" dirty="0"/>
          </a:p>
          <a:p>
            <a:r>
              <a:rPr lang="en-US" dirty="0"/>
              <a:t>A complete security framework consists of three fundamental components:</a:t>
            </a:r>
          </a:p>
          <a:p>
            <a:pPr marL="285750" indent="-285750">
              <a:buFont typeface="Arial" panose="020B0604020202020204" pitchFamily="34" charset="0"/>
              <a:buChar char="•"/>
            </a:pPr>
            <a:r>
              <a:rPr lang="en-US" dirty="0"/>
              <a:t>Prevention – Preventing unauthorized activities before they occur. </a:t>
            </a:r>
          </a:p>
          <a:p>
            <a:pPr marL="285750" indent="-285750">
              <a:buFont typeface="Arial" panose="020B0604020202020204" pitchFamily="34" charset="0"/>
              <a:buChar char="•"/>
            </a:pPr>
            <a:r>
              <a:rPr lang="en-US" dirty="0"/>
              <a:t>Detection – Identifying attacks or suspicious activities in real time. </a:t>
            </a:r>
          </a:p>
          <a:p>
            <a:pPr marL="285750" indent="-285750">
              <a:buFont typeface="Arial" panose="020B0604020202020204" pitchFamily="34" charset="0"/>
              <a:buChar char="•"/>
            </a:pPr>
            <a:r>
              <a:rPr lang="en-US" dirty="0"/>
              <a:t>Response and Recovery – Restoring systems and minimizing damage after an incident.</a:t>
            </a:r>
          </a:p>
          <a:p>
            <a:endParaRPr lang="en-US" dirty="0"/>
          </a:p>
        </p:txBody>
      </p:sp>
    </p:spTree>
    <p:extLst>
      <p:ext uri="{BB962C8B-B14F-4D97-AF65-F5344CB8AC3E}">
        <p14:creationId xmlns:p14="http://schemas.microsoft.com/office/powerpoint/2010/main" val="410205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277" y="171938"/>
            <a:ext cx="8534400" cy="2117970"/>
          </a:xfrm>
        </p:spPr>
        <p:txBody>
          <a:bodyPr/>
          <a:lstStyle/>
          <a:p>
            <a:r>
              <a:rPr lang="en-US" dirty="0"/>
              <a:t>What Requires Protection?</a:t>
            </a:r>
          </a:p>
        </p:txBody>
      </p:sp>
      <p:sp>
        <p:nvSpPr>
          <p:cNvPr id="5" name="TextBox 4"/>
          <p:cNvSpPr txBox="1"/>
          <p:nvPr/>
        </p:nvSpPr>
        <p:spPr>
          <a:xfrm>
            <a:off x="648676" y="2594708"/>
            <a:ext cx="11105661" cy="3416320"/>
          </a:xfrm>
          <a:prstGeom prst="rect">
            <a:avLst/>
          </a:prstGeom>
          <a:noFill/>
        </p:spPr>
        <p:txBody>
          <a:bodyPr wrap="square" rtlCol="0">
            <a:spAutoFit/>
          </a:bodyPr>
          <a:lstStyle/>
          <a:p>
            <a:r>
              <a:rPr lang="en-US" dirty="0"/>
              <a:t>Every organization possesses valuable assets that require protection. These assets include:</a:t>
            </a:r>
          </a:p>
          <a:p>
            <a:pPr marL="285750" indent="-285750">
              <a:buFont typeface="Arial" panose="020B0604020202020204" pitchFamily="34" charset="0"/>
              <a:buChar char="•"/>
            </a:pPr>
            <a:r>
              <a:rPr lang="en-US" dirty="0"/>
              <a:t>Information Assets </a:t>
            </a:r>
          </a:p>
          <a:p>
            <a:pPr marL="285750" indent="-285750">
              <a:buFont typeface="Arial" panose="020B0604020202020204" pitchFamily="34" charset="0"/>
              <a:buChar char="•"/>
            </a:pPr>
            <a:r>
              <a:rPr lang="en-US" dirty="0"/>
              <a:t>Hardware Resources </a:t>
            </a:r>
          </a:p>
          <a:p>
            <a:pPr marL="285750" indent="-285750">
              <a:buFont typeface="Arial" panose="020B0604020202020204" pitchFamily="34" charset="0"/>
              <a:buChar char="•"/>
            </a:pPr>
            <a:r>
              <a:rPr lang="en-US" dirty="0"/>
              <a:t>Software Applications </a:t>
            </a:r>
          </a:p>
          <a:p>
            <a:pPr marL="285750" indent="-285750">
              <a:buFont typeface="Arial" panose="020B0604020202020204" pitchFamily="34" charset="0"/>
              <a:buChar char="•"/>
            </a:pPr>
            <a:r>
              <a:rPr lang="en-US" dirty="0"/>
              <a:t>Communication Networks </a:t>
            </a:r>
          </a:p>
          <a:p>
            <a:pPr marL="285750" indent="-285750">
              <a:buFont typeface="Arial" panose="020B0604020202020204" pitchFamily="34" charset="0"/>
              <a:buChar char="•"/>
            </a:pPr>
            <a:r>
              <a:rPr lang="en-US" dirty="0"/>
              <a:t>Databases </a:t>
            </a:r>
          </a:p>
          <a:p>
            <a:pPr marL="285750" indent="-285750">
              <a:buFont typeface="Arial" panose="020B0604020202020204" pitchFamily="34" charset="0"/>
              <a:buChar char="•"/>
            </a:pPr>
            <a:r>
              <a:rPr lang="en-US" dirty="0"/>
              <a:t>Cloud Infrastructure </a:t>
            </a:r>
          </a:p>
          <a:p>
            <a:pPr marL="285750" indent="-285750">
              <a:buFont typeface="Arial" panose="020B0604020202020204" pitchFamily="34" charset="0"/>
              <a:buChar char="•"/>
            </a:pPr>
            <a:r>
              <a:rPr lang="en-US" dirty="0"/>
              <a:t>Intellectual Property </a:t>
            </a:r>
          </a:p>
          <a:p>
            <a:pPr marL="285750" indent="-285750">
              <a:buFont typeface="Arial" panose="020B0604020202020204" pitchFamily="34" charset="0"/>
              <a:buChar char="•"/>
            </a:pPr>
            <a:r>
              <a:rPr lang="en-US" dirty="0"/>
              <a:t>Financial Records </a:t>
            </a:r>
          </a:p>
          <a:p>
            <a:pPr marL="285750" indent="-285750">
              <a:buFont typeface="Arial" panose="020B0604020202020204" pitchFamily="34" charset="0"/>
              <a:buChar char="•"/>
            </a:pPr>
            <a:r>
              <a:rPr lang="en-US" dirty="0"/>
              <a:t>Customer Information </a:t>
            </a:r>
          </a:p>
          <a:p>
            <a:pPr marL="285750" indent="-285750">
              <a:buFont typeface="Arial" panose="020B0604020202020204" pitchFamily="34" charset="0"/>
              <a:buChar char="•"/>
            </a:pPr>
            <a:r>
              <a:rPr lang="en-US" dirty="0"/>
              <a:t>Human Resources </a:t>
            </a:r>
          </a:p>
          <a:p>
            <a:endParaRPr lang="en-US" dirty="0"/>
          </a:p>
        </p:txBody>
      </p:sp>
    </p:spTree>
    <p:extLst>
      <p:ext uri="{BB962C8B-B14F-4D97-AF65-F5344CB8AC3E}">
        <p14:creationId xmlns:p14="http://schemas.microsoft.com/office/powerpoint/2010/main" val="3392207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277" y="171938"/>
            <a:ext cx="8534400" cy="2117970"/>
          </a:xfrm>
        </p:spPr>
        <p:txBody>
          <a:bodyPr/>
          <a:lstStyle/>
          <a:p>
            <a:r>
              <a:rPr lang="en-US" dirty="0"/>
              <a:t>Why Do We Need Information Security?</a:t>
            </a:r>
          </a:p>
        </p:txBody>
      </p:sp>
      <p:sp>
        <p:nvSpPr>
          <p:cNvPr id="5" name="TextBox 4"/>
          <p:cNvSpPr txBox="1"/>
          <p:nvPr/>
        </p:nvSpPr>
        <p:spPr>
          <a:xfrm>
            <a:off x="648676" y="2594708"/>
            <a:ext cx="11105661" cy="31393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In today's digital world, information has become one of the most valuable organizational assets. Almost every organization stores, processes, and transmits sensitive information electronically. As technology advances, cyber threats are also increasing rapidly. Therefore, protecting information has become a critical requirement rather than an option.</a:t>
            </a:r>
          </a:p>
          <a:p>
            <a:pPr marL="285750" indent="-285750">
              <a:lnSpc>
                <a:spcPct val="150000"/>
              </a:lnSpc>
              <a:buFont typeface="Arial" panose="020B0604020202020204" pitchFamily="34" charset="0"/>
              <a:buChar char="•"/>
            </a:pPr>
            <a:r>
              <a:rPr lang="en-US" dirty="0"/>
              <a:t>Information Security ensures that information remains secure from unauthorized access, misuse, alteration, destruction, and accidental loss throughout its entire lifecycle.</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244460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6344" y="-392723"/>
            <a:ext cx="10969943" cy="1600200"/>
          </a:xfrm>
        </p:spPr>
        <p:txBody>
          <a:bodyPr/>
          <a:lstStyle/>
          <a:p>
            <a:r>
              <a:rPr lang="en-US" sz="3600" dirty="0">
                <a:solidFill>
                  <a:schemeClr val="tx1"/>
                </a:solidFill>
              </a:rPr>
              <a:t>Reasons for Information Security</a:t>
            </a:r>
          </a:p>
        </p:txBody>
      </p:sp>
      <p:sp>
        <p:nvSpPr>
          <p:cNvPr id="3" name="Rectangle 2"/>
          <p:cNvSpPr/>
          <p:nvPr/>
        </p:nvSpPr>
        <p:spPr>
          <a:xfrm>
            <a:off x="609441" y="1271008"/>
            <a:ext cx="7932615" cy="2308324"/>
          </a:xfrm>
          <a:prstGeom prst="rect">
            <a:avLst/>
          </a:prstGeom>
        </p:spPr>
        <p:txBody>
          <a:bodyPr wrap="square">
            <a:spAutoFit/>
          </a:bodyPr>
          <a:lstStyle/>
          <a:p>
            <a:r>
              <a:rPr lang="en-US" b="1" dirty="0"/>
              <a:t>1. Protection of Sensitive Information</a:t>
            </a:r>
          </a:p>
          <a:p>
            <a:r>
              <a:rPr lang="en-US" dirty="0"/>
              <a:t>Organizations maintain confidential information such as:</a:t>
            </a:r>
          </a:p>
          <a:p>
            <a:pPr marL="285750" indent="-285750">
              <a:buFont typeface="Arial" panose="020B0604020202020204" pitchFamily="34" charset="0"/>
              <a:buChar char="•"/>
            </a:pPr>
            <a:r>
              <a:rPr lang="en-US" dirty="0"/>
              <a:t>Customer Records </a:t>
            </a:r>
          </a:p>
          <a:p>
            <a:pPr marL="285750" indent="-285750">
              <a:buFont typeface="Arial" panose="020B0604020202020204" pitchFamily="34" charset="0"/>
              <a:buChar char="•"/>
            </a:pPr>
            <a:r>
              <a:rPr lang="en-US" dirty="0"/>
              <a:t>Financial Data </a:t>
            </a:r>
          </a:p>
          <a:p>
            <a:pPr marL="285750" indent="-285750">
              <a:buFont typeface="Arial" panose="020B0604020202020204" pitchFamily="34" charset="0"/>
              <a:buChar char="•"/>
            </a:pPr>
            <a:r>
              <a:rPr lang="en-US" dirty="0"/>
              <a:t>Medical Records </a:t>
            </a:r>
          </a:p>
          <a:p>
            <a:pPr marL="285750" indent="-285750">
              <a:buFont typeface="Arial" panose="020B0604020202020204" pitchFamily="34" charset="0"/>
              <a:buChar char="•"/>
            </a:pPr>
            <a:r>
              <a:rPr lang="en-US" dirty="0"/>
              <a:t>Government Documents </a:t>
            </a:r>
          </a:p>
          <a:p>
            <a:pPr marL="285750" indent="-285750">
              <a:buFont typeface="Arial" panose="020B0604020202020204" pitchFamily="34" charset="0"/>
              <a:buChar char="•"/>
            </a:pPr>
            <a:r>
              <a:rPr lang="en-US" dirty="0"/>
              <a:t>Research Data </a:t>
            </a:r>
          </a:p>
          <a:p>
            <a:pPr marL="285750" indent="-285750">
              <a:buFont typeface="Arial" panose="020B0604020202020204" pitchFamily="34" charset="0"/>
              <a:buChar char="•"/>
            </a:pPr>
            <a:r>
              <a:rPr lang="en-US" dirty="0"/>
              <a:t>Intellectual Property </a:t>
            </a:r>
          </a:p>
        </p:txBody>
      </p:sp>
      <p:sp>
        <p:nvSpPr>
          <p:cNvPr id="4" name="Rectangle 3"/>
          <p:cNvSpPr/>
          <p:nvPr/>
        </p:nvSpPr>
        <p:spPr>
          <a:xfrm>
            <a:off x="664308" y="3717111"/>
            <a:ext cx="6092825" cy="2862322"/>
          </a:xfrm>
          <a:prstGeom prst="rect">
            <a:avLst/>
          </a:prstGeom>
        </p:spPr>
        <p:txBody>
          <a:bodyPr>
            <a:spAutoFit/>
          </a:bodyPr>
          <a:lstStyle/>
          <a:p>
            <a:r>
              <a:rPr lang="en-US" b="1" dirty="0"/>
              <a:t>2. Increasing Cyber Attacks</a:t>
            </a:r>
          </a:p>
          <a:p>
            <a:r>
              <a:rPr lang="en-US" dirty="0"/>
              <a:t>Modern cyber attacks are becoming more sophisticated.</a:t>
            </a:r>
          </a:p>
          <a:p>
            <a:r>
              <a:rPr lang="en-US" dirty="0"/>
              <a:t>Common attacks include:</a:t>
            </a:r>
          </a:p>
          <a:p>
            <a:pPr marL="285750" indent="-285750">
              <a:buFont typeface="Arial" panose="020B0604020202020204" pitchFamily="34" charset="0"/>
              <a:buChar char="•"/>
            </a:pPr>
            <a:r>
              <a:rPr lang="en-US" dirty="0"/>
              <a:t>Phishing </a:t>
            </a:r>
          </a:p>
          <a:p>
            <a:pPr marL="285750" indent="-285750">
              <a:buFont typeface="Arial" panose="020B0604020202020204" pitchFamily="34" charset="0"/>
              <a:buChar char="•"/>
            </a:pPr>
            <a:r>
              <a:rPr lang="en-US" dirty="0"/>
              <a:t>Malware </a:t>
            </a:r>
          </a:p>
          <a:p>
            <a:pPr marL="285750" indent="-285750">
              <a:buFont typeface="Arial" panose="020B0604020202020204" pitchFamily="34" charset="0"/>
              <a:buChar char="•"/>
            </a:pPr>
            <a:r>
              <a:rPr lang="en-US" dirty="0" err="1"/>
              <a:t>Ransomware</a:t>
            </a:r>
            <a:r>
              <a:rPr lang="en-US" dirty="0"/>
              <a:t> </a:t>
            </a:r>
          </a:p>
          <a:p>
            <a:pPr marL="285750" indent="-285750">
              <a:buFont typeface="Arial" panose="020B0604020202020204" pitchFamily="34" charset="0"/>
              <a:buChar char="•"/>
            </a:pPr>
            <a:r>
              <a:rPr lang="en-US" dirty="0"/>
              <a:t>SQL Injection </a:t>
            </a:r>
          </a:p>
          <a:p>
            <a:pPr marL="285750" indent="-285750">
              <a:buFont typeface="Arial" panose="020B0604020202020204" pitchFamily="34" charset="0"/>
              <a:buChar char="•"/>
            </a:pPr>
            <a:r>
              <a:rPr lang="en-US" dirty="0"/>
              <a:t>Password Attacks </a:t>
            </a:r>
          </a:p>
          <a:p>
            <a:pPr marL="285750" indent="-285750">
              <a:buFont typeface="Arial" panose="020B0604020202020204" pitchFamily="34" charset="0"/>
              <a:buChar char="•"/>
            </a:pPr>
            <a:r>
              <a:rPr lang="en-US" dirty="0"/>
              <a:t>Insider Threats </a:t>
            </a:r>
          </a:p>
          <a:p>
            <a:pPr marL="285750" indent="-285750">
              <a:buFont typeface="Arial" panose="020B0604020202020204" pitchFamily="34" charset="0"/>
              <a:buChar char="•"/>
            </a:pPr>
            <a:r>
              <a:rPr lang="en-US" dirty="0"/>
              <a:t>Social Engineering</a:t>
            </a:r>
          </a:p>
        </p:txBody>
      </p:sp>
    </p:spTree>
    <p:extLst>
      <p:ext uri="{BB962C8B-B14F-4D97-AF65-F5344CB8AC3E}">
        <p14:creationId xmlns:p14="http://schemas.microsoft.com/office/powerpoint/2010/main" val="184320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22216" y="201585"/>
            <a:ext cx="6092825" cy="2031325"/>
          </a:xfrm>
          <a:prstGeom prst="rect">
            <a:avLst/>
          </a:prstGeom>
        </p:spPr>
        <p:txBody>
          <a:bodyPr>
            <a:spAutoFit/>
          </a:bodyPr>
          <a:lstStyle/>
          <a:p>
            <a:r>
              <a:rPr lang="en-US" b="1" dirty="0"/>
              <a:t>4. Protection Against Financial Loss</a:t>
            </a:r>
          </a:p>
          <a:p>
            <a:r>
              <a:rPr lang="en-US" dirty="0"/>
              <a:t>Cyber attacks may result in:</a:t>
            </a:r>
          </a:p>
          <a:p>
            <a:pPr marL="285750" indent="-285750">
              <a:buFont typeface="Arial" panose="020B0604020202020204" pitchFamily="34" charset="0"/>
              <a:buChar char="•"/>
            </a:pPr>
            <a:r>
              <a:rPr lang="en-US" dirty="0"/>
              <a:t>Financial Fraud </a:t>
            </a:r>
          </a:p>
          <a:p>
            <a:pPr marL="285750" indent="-285750">
              <a:buFont typeface="Arial" panose="020B0604020202020204" pitchFamily="34" charset="0"/>
              <a:buChar char="•"/>
            </a:pPr>
            <a:r>
              <a:rPr lang="en-US" dirty="0"/>
              <a:t>Data Recovery Costs </a:t>
            </a:r>
          </a:p>
          <a:p>
            <a:pPr marL="285750" indent="-285750">
              <a:buFont typeface="Arial" panose="020B0604020202020204" pitchFamily="34" charset="0"/>
              <a:buChar char="•"/>
            </a:pPr>
            <a:r>
              <a:rPr lang="en-US" dirty="0"/>
              <a:t>Legal Penalties </a:t>
            </a:r>
          </a:p>
          <a:p>
            <a:pPr marL="285750" indent="-285750">
              <a:buFont typeface="Arial" panose="020B0604020202020204" pitchFamily="34" charset="0"/>
              <a:buChar char="•"/>
            </a:pPr>
            <a:r>
              <a:rPr lang="en-US" dirty="0"/>
              <a:t>Compensation to Customers </a:t>
            </a:r>
          </a:p>
          <a:p>
            <a:pPr marL="285750" indent="-285750">
              <a:buFont typeface="Arial" panose="020B0604020202020204" pitchFamily="34" charset="0"/>
              <a:buChar char="•"/>
            </a:pPr>
            <a:r>
              <a:rPr lang="en-US" dirty="0"/>
              <a:t>Business Revenue Loss</a:t>
            </a:r>
          </a:p>
        </p:txBody>
      </p:sp>
      <p:sp>
        <p:nvSpPr>
          <p:cNvPr id="4" name="Rectangle 3"/>
          <p:cNvSpPr/>
          <p:nvPr/>
        </p:nvSpPr>
        <p:spPr>
          <a:xfrm>
            <a:off x="836245" y="2241849"/>
            <a:ext cx="10277231" cy="2308324"/>
          </a:xfrm>
          <a:prstGeom prst="rect">
            <a:avLst/>
          </a:prstGeom>
        </p:spPr>
        <p:txBody>
          <a:bodyPr wrap="square">
            <a:spAutoFit/>
          </a:bodyPr>
          <a:lstStyle/>
          <a:p>
            <a:r>
              <a:rPr lang="en-US" b="1" dirty="0"/>
              <a:t>5. Maintaining Customer Trust</a:t>
            </a:r>
          </a:p>
          <a:p>
            <a:r>
              <a:rPr lang="en-US" dirty="0"/>
              <a:t>Customers share their personal information with organizations expecting it to remain confidential.</a:t>
            </a:r>
          </a:p>
          <a:p>
            <a:pPr marL="285750" indent="-285750">
              <a:buFont typeface="Arial" panose="020B0604020202020204" pitchFamily="34" charset="0"/>
              <a:buChar char="•"/>
            </a:pPr>
            <a:r>
              <a:rPr lang="en-US" dirty="0"/>
              <a:t>Examples include:</a:t>
            </a:r>
          </a:p>
          <a:p>
            <a:pPr marL="285750" indent="-285750">
              <a:buFont typeface="Arial" panose="020B0604020202020204" pitchFamily="34" charset="0"/>
              <a:buChar char="•"/>
            </a:pPr>
            <a:r>
              <a:rPr lang="en-US" dirty="0"/>
              <a:t>Banking Details </a:t>
            </a:r>
          </a:p>
          <a:p>
            <a:pPr marL="285750" indent="-285750">
              <a:buFont typeface="Arial" panose="020B0604020202020204" pitchFamily="34" charset="0"/>
              <a:buChar char="•"/>
            </a:pPr>
            <a:r>
              <a:rPr lang="en-US" dirty="0" err="1"/>
              <a:t>Aadhaar</a:t>
            </a:r>
            <a:r>
              <a:rPr lang="en-US" dirty="0"/>
              <a:t> Number </a:t>
            </a:r>
          </a:p>
          <a:p>
            <a:pPr marL="285750" indent="-285750">
              <a:buFont typeface="Arial" panose="020B0604020202020204" pitchFamily="34" charset="0"/>
              <a:buChar char="•"/>
            </a:pPr>
            <a:r>
              <a:rPr lang="en-US" dirty="0"/>
              <a:t>PAN Card </a:t>
            </a:r>
          </a:p>
          <a:p>
            <a:pPr marL="285750" indent="-285750">
              <a:buFont typeface="Arial" panose="020B0604020202020204" pitchFamily="34" charset="0"/>
              <a:buChar char="•"/>
            </a:pPr>
            <a:r>
              <a:rPr lang="en-US" dirty="0"/>
              <a:t>Mobile Number </a:t>
            </a:r>
          </a:p>
          <a:p>
            <a:pPr marL="285750" indent="-285750">
              <a:buFont typeface="Arial" panose="020B0604020202020204" pitchFamily="34" charset="0"/>
              <a:buChar char="•"/>
            </a:pPr>
            <a:r>
              <a:rPr lang="en-US" dirty="0"/>
              <a:t>Email Address</a:t>
            </a:r>
          </a:p>
        </p:txBody>
      </p:sp>
    </p:spTree>
    <p:extLst>
      <p:ext uri="{BB962C8B-B14F-4D97-AF65-F5344CB8AC3E}">
        <p14:creationId xmlns:p14="http://schemas.microsoft.com/office/powerpoint/2010/main" val="2842224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64306" y="529830"/>
            <a:ext cx="8776678" cy="1754326"/>
          </a:xfrm>
          <a:prstGeom prst="rect">
            <a:avLst/>
          </a:prstGeom>
        </p:spPr>
        <p:txBody>
          <a:bodyPr wrap="square">
            <a:spAutoFit/>
          </a:bodyPr>
          <a:lstStyle/>
          <a:p>
            <a:r>
              <a:rPr lang="en-US" b="1" dirty="0"/>
              <a:t>6. Legal and Regulatory Compliance</a:t>
            </a:r>
          </a:p>
          <a:p>
            <a:r>
              <a:rPr lang="en-US" dirty="0"/>
              <a:t>Organizations must comply with security regulations and standards such as:</a:t>
            </a:r>
          </a:p>
          <a:p>
            <a:pPr marL="285750" indent="-285750">
              <a:buFont typeface="Arial" panose="020B0604020202020204" pitchFamily="34" charset="0"/>
              <a:buChar char="•"/>
            </a:pPr>
            <a:r>
              <a:rPr lang="en-US" dirty="0"/>
              <a:t>ISO/IEC 27001 </a:t>
            </a:r>
          </a:p>
          <a:p>
            <a:pPr marL="285750" indent="-285750">
              <a:buFont typeface="Arial" panose="020B0604020202020204" pitchFamily="34" charset="0"/>
              <a:buChar char="•"/>
            </a:pPr>
            <a:r>
              <a:rPr lang="en-US" dirty="0"/>
              <a:t>Information Technology Act, 2000 (India) </a:t>
            </a:r>
          </a:p>
          <a:p>
            <a:pPr marL="285750" indent="-285750">
              <a:buFont typeface="Arial" panose="020B0604020202020204" pitchFamily="34" charset="0"/>
              <a:buChar char="•"/>
            </a:pPr>
            <a:r>
              <a:rPr lang="en-US" dirty="0"/>
              <a:t>Digital Personal Data Protection (DPDP) Act, 2023 </a:t>
            </a:r>
          </a:p>
          <a:p>
            <a:pPr marL="285750" indent="-285750">
              <a:buFont typeface="Arial" panose="020B0604020202020204" pitchFamily="34" charset="0"/>
              <a:buChar char="•"/>
            </a:pPr>
            <a:r>
              <a:rPr lang="en-US" dirty="0"/>
              <a:t>RBI Cyber Security Guidelines (for Banks)</a:t>
            </a:r>
          </a:p>
        </p:txBody>
      </p:sp>
      <p:sp>
        <p:nvSpPr>
          <p:cNvPr id="4" name="Rectangle 3"/>
          <p:cNvSpPr/>
          <p:nvPr/>
        </p:nvSpPr>
        <p:spPr>
          <a:xfrm>
            <a:off x="1008184" y="2618715"/>
            <a:ext cx="6092825" cy="2308324"/>
          </a:xfrm>
          <a:prstGeom prst="rect">
            <a:avLst/>
          </a:prstGeom>
        </p:spPr>
        <p:txBody>
          <a:bodyPr>
            <a:spAutoFit/>
          </a:bodyPr>
          <a:lstStyle/>
          <a:p>
            <a:r>
              <a:rPr lang="en-US" b="1" dirty="0"/>
              <a:t>Consequences of Poor Information Security</a:t>
            </a:r>
          </a:p>
          <a:p>
            <a:r>
              <a:rPr lang="en-US" dirty="0"/>
              <a:t>Without proper Information Security:</a:t>
            </a:r>
          </a:p>
          <a:p>
            <a:pPr marL="285750" indent="-285750">
              <a:buFont typeface="Arial" panose="020B0604020202020204" pitchFamily="34" charset="0"/>
              <a:buChar char="•"/>
            </a:pPr>
            <a:r>
              <a:rPr lang="en-US" dirty="0"/>
              <a:t>Confidential information may be leaked. </a:t>
            </a:r>
          </a:p>
          <a:p>
            <a:pPr marL="285750" indent="-285750">
              <a:buFont typeface="Arial" panose="020B0604020202020204" pitchFamily="34" charset="0"/>
              <a:buChar char="•"/>
            </a:pPr>
            <a:r>
              <a:rPr lang="en-US" dirty="0"/>
              <a:t>Hackers may steal customer data. </a:t>
            </a:r>
          </a:p>
          <a:p>
            <a:pPr marL="285750" indent="-285750">
              <a:buFont typeface="Arial" panose="020B0604020202020204" pitchFamily="34" charset="0"/>
              <a:buChar char="•"/>
            </a:pPr>
            <a:r>
              <a:rPr lang="en-US" dirty="0"/>
              <a:t>Business operations may stop. </a:t>
            </a:r>
          </a:p>
          <a:p>
            <a:pPr marL="285750" indent="-285750">
              <a:buFont typeface="Arial" panose="020B0604020202020204" pitchFamily="34" charset="0"/>
              <a:buChar char="•"/>
            </a:pPr>
            <a:r>
              <a:rPr lang="en-US" dirty="0"/>
              <a:t>Reputation may be damaged. </a:t>
            </a:r>
          </a:p>
          <a:p>
            <a:pPr marL="285750" indent="-285750">
              <a:buFont typeface="Arial" panose="020B0604020202020204" pitchFamily="34" charset="0"/>
              <a:buChar char="•"/>
            </a:pPr>
            <a:r>
              <a:rPr lang="en-US" dirty="0"/>
              <a:t>Financial losses may occur. </a:t>
            </a:r>
          </a:p>
          <a:p>
            <a:pPr marL="285750" indent="-285750">
              <a:buFont typeface="Arial" panose="020B0604020202020204" pitchFamily="34" charset="0"/>
              <a:buChar char="•"/>
            </a:pPr>
            <a:r>
              <a:rPr lang="en-US" dirty="0"/>
              <a:t>Legal penalties may be imposed.</a:t>
            </a:r>
          </a:p>
        </p:txBody>
      </p:sp>
    </p:spTree>
    <p:extLst>
      <p:ext uri="{BB962C8B-B14F-4D97-AF65-F5344CB8AC3E}">
        <p14:creationId xmlns:p14="http://schemas.microsoft.com/office/powerpoint/2010/main" val="2435697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44" y="1539630"/>
            <a:ext cx="11619801" cy="4196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242277" y="171938"/>
            <a:ext cx="4579815" cy="851467"/>
          </a:xfrm>
        </p:spPr>
        <p:txBody>
          <a:bodyPr/>
          <a:lstStyle/>
          <a:p>
            <a:r>
              <a:rPr lang="en-US" dirty="0"/>
              <a:t>Examples 1 :- </a:t>
            </a:r>
          </a:p>
        </p:txBody>
      </p:sp>
    </p:spTree>
    <p:extLst>
      <p:ext uri="{BB962C8B-B14F-4D97-AF65-F5344CB8AC3E}">
        <p14:creationId xmlns:p14="http://schemas.microsoft.com/office/powerpoint/2010/main" val="4208312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324" y="1654917"/>
            <a:ext cx="11324492" cy="371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242277" y="171938"/>
            <a:ext cx="4579815" cy="851467"/>
          </a:xfrm>
        </p:spPr>
        <p:txBody>
          <a:bodyPr/>
          <a:lstStyle/>
          <a:p>
            <a:r>
              <a:rPr lang="en-US" dirty="0"/>
              <a:t>Examples 2 :- </a:t>
            </a:r>
          </a:p>
        </p:txBody>
      </p:sp>
    </p:spTree>
    <p:extLst>
      <p:ext uri="{BB962C8B-B14F-4D97-AF65-F5344CB8AC3E}">
        <p14:creationId xmlns:p14="http://schemas.microsoft.com/office/powerpoint/2010/main" val="856902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2277" y="171938"/>
            <a:ext cx="4579815" cy="851467"/>
          </a:xfrm>
        </p:spPr>
        <p:txBody>
          <a:bodyPr/>
          <a:lstStyle/>
          <a:p>
            <a:r>
              <a:rPr lang="en-US" dirty="0"/>
              <a:t>Examples 3 :-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325" y="1566984"/>
            <a:ext cx="11434911"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4415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3373" y="649626"/>
            <a:ext cx="4519186" cy="369332"/>
          </a:xfrm>
          <a:prstGeom prst="rect">
            <a:avLst/>
          </a:prstGeom>
        </p:spPr>
        <p:txBody>
          <a:bodyPr wrap="none">
            <a:spAutoFit/>
          </a:bodyPr>
          <a:lstStyle/>
          <a:p>
            <a:r>
              <a:rPr lang="en-US" b="1" dirty="0"/>
              <a:t>Principle of Information System Security</a:t>
            </a:r>
          </a:p>
        </p:txBody>
      </p:sp>
      <p:sp>
        <p:nvSpPr>
          <p:cNvPr id="4" name="AutoShape 4" descr="What is Information Security | Policy, Principles &amp; Threat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What is Information Security | Policy, Principles &amp; Threats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8" name="Picture 8" descr="Three main principles of security.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3206" y="834292"/>
            <a:ext cx="4381500" cy="41338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Rectangle 5"/>
          <p:cNvSpPr/>
          <p:nvPr/>
        </p:nvSpPr>
        <p:spPr>
          <a:xfrm>
            <a:off x="763373" y="1222327"/>
            <a:ext cx="6092825" cy="646331"/>
          </a:xfrm>
          <a:prstGeom prst="rect">
            <a:avLst/>
          </a:prstGeom>
        </p:spPr>
        <p:txBody>
          <a:bodyPr>
            <a:spAutoFit/>
          </a:bodyPr>
          <a:lstStyle/>
          <a:p>
            <a:r>
              <a:rPr lang="en-US" dirty="0"/>
              <a:t>These three levels justify the</a:t>
            </a:r>
            <a:r>
              <a:rPr lang="en-US" b="1" dirty="0"/>
              <a:t> principle of information system security</a:t>
            </a:r>
            <a:r>
              <a:rPr lang="en-US" dirty="0"/>
              <a:t>. </a:t>
            </a:r>
          </a:p>
        </p:txBody>
      </p:sp>
      <p:sp>
        <p:nvSpPr>
          <p:cNvPr id="7" name="Rectangle 6"/>
          <p:cNvSpPr/>
          <p:nvPr/>
        </p:nvSpPr>
        <p:spPr>
          <a:xfrm>
            <a:off x="155575" y="2352431"/>
            <a:ext cx="6886087" cy="3693319"/>
          </a:xfrm>
          <a:prstGeom prst="rect">
            <a:avLst/>
          </a:prstGeom>
        </p:spPr>
        <p:txBody>
          <a:bodyPr wrap="square">
            <a:spAutoFit/>
          </a:bodyPr>
          <a:lstStyle/>
          <a:p>
            <a:pPr fontAlgn="base"/>
            <a:r>
              <a:rPr lang="en-US" b="1" dirty="0"/>
              <a:t>Confidentiality:</a:t>
            </a:r>
            <a:r>
              <a:rPr lang="en-US" dirty="0"/>
              <a:t> Ensures sensitive data is only accessible to authorized individuals. It prevents unauthorized disclosure and is typically implemented through strict access controls, user authentication, and data encryption. </a:t>
            </a:r>
          </a:p>
          <a:p>
            <a:pPr fontAlgn="base"/>
            <a:endParaRPr lang="en-US" dirty="0"/>
          </a:p>
          <a:p>
            <a:pPr fontAlgn="base"/>
            <a:r>
              <a:rPr lang="en-US" b="1" dirty="0"/>
              <a:t>Integrity:</a:t>
            </a:r>
            <a:r>
              <a:rPr lang="en-US" dirty="0"/>
              <a:t> Guarantees that information is accurate, reliable, and remains unaltered by unauthorized entities. It protects against both malicious tampering and accidental data modification. </a:t>
            </a:r>
          </a:p>
          <a:p>
            <a:pPr fontAlgn="base"/>
            <a:endParaRPr lang="en-US" dirty="0"/>
          </a:p>
          <a:p>
            <a:pPr fontAlgn="base"/>
            <a:r>
              <a:rPr lang="en-US" b="1" dirty="0"/>
              <a:t>Availability:</a:t>
            </a:r>
            <a:r>
              <a:rPr lang="en-US" dirty="0"/>
              <a:t> Ensures that systems, applications, and data are fully operational and accessible to authorized users exactly when they are needed. This requires robust infrastructure and proactive disaster recovery planning.</a:t>
            </a:r>
          </a:p>
        </p:txBody>
      </p:sp>
    </p:spTree>
    <p:extLst>
      <p:ext uri="{BB962C8B-B14F-4D97-AF65-F5344CB8AC3E}">
        <p14:creationId xmlns:p14="http://schemas.microsoft.com/office/powerpoint/2010/main" val="2125655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2276" y="171938"/>
            <a:ext cx="5572369" cy="1148862"/>
          </a:xfrm>
        </p:spPr>
        <p:txBody>
          <a:bodyPr/>
          <a:lstStyle/>
          <a:p>
            <a:r>
              <a:rPr lang="en-US" dirty="0"/>
              <a:t>Confidentiality</a:t>
            </a:r>
          </a:p>
        </p:txBody>
      </p:sp>
      <p:sp>
        <p:nvSpPr>
          <p:cNvPr id="2" name="Rectangle 1"/>
          <p:cNvSpPr/>
          <p:nvPr/>
        </p:nvSpPr>
        <p:spPr>
          <a:xfrm>
            <a:off x="742461" y="1477108"/>
            <a:ext cx="10496062" cy="3970318"/>
          </a:xfrm>
          <a:prstGeom prst="rect">
            <a:avLst/>
          </a:prstGeom>
        </p:spPr>
        <p:txBody>
          <a:bodyPr wrap="square">
            <a:spAutoFit/>
          </a:bodyPr>
          <a:lstStyle/>
          <a:p>
            <a:r>
              <a:rPr lang="en-US" b="1" dirty="0"/>
              <a:t>Confidentiality</a:t>
            </a:r>
            <a:r>
              <a:rPr lang="en-US" dirty="0"/>
              <a:t> is the principle of ensuring that information is accessible </a:t>
            </a:r>
            <a:r>
              <a:rPr lang="en-US" b="1" dirty="0"/>
              <a:t>only to authorized users</a:t>
            </a:r>
            <a:r>
              <a:rPr lang="en-US" dirty="0"/>
              <a:t> and is protected from unauthorized access, disclosure, or leakage. It is the protection of information in the system so that an unauthorized person cannot access it. This type of protection is most important in military and government organizations that need to keep plans and capabilities secret from enemies. However, it can also be useful to businesses that need to protect their proprietary trade secrets from competitors or prevent unauthorized persons from accessing the company's sensitive information (e.g., legal, personal, or medical information). Privacy issues have gained an increasing amount of attention in the past few years, placing the importance of confidentiality on protecting personal information maintained in automated systems by both government agencies and private-sector organizations. Confidentiality must be well-defined, and procedures for maintaining confidentiality must be carefully implemented. A crucial aspect of confidentiality is user identification and authentication. Positive identification of each system user is essential in order to ensure the effectiveness of policies that specify who is allowed access to which data items. </a:t>
            </a:r>
          </a:p>
          <a:p>
            <a:endParaRPr lang="en-US" dirty="0"/>
          </a:p>
        </p:txBody>
      </p:sp>
      <p:sp>
        <p:nvSpPr>
          <p:cNvPr id="3" name="Rectangle 2"/>
          <p:cNvSpPr/>
          <p:nvPr/>
        </p:nvSpPr>
        <p:spPr>
          <a:xfrm>
            <a:off x="1359877" y="5650522"/>
            <a:ext cx="9878646" cy="830997"/>
          </a:xfrm>
          <a:prstGeom prst="rect">
            <a:avLst/>
          </a:prstGeom>
        </p:spPr>
        <p:txBody>
          <a:bodyPr wrap="square">
            <a:spAutoFit/>
          </a:bodyPr>
          <a:lstStyle/>
          <a:p>
            <a:r>
              <a:rPr lang="en-US" sz="2400" b="1" dirty="0"/>
              <a:t>Confidentiality means "keeping information secret from unauthorized persons."</a:t>
            </a:r>
          </a:p>
        </p:txBody>
      </p:sp>
    </p:spTree>
    <p:extLst>
      <p:ext uri="{BB962C8B-B14F-4D97-AF65-F5344CB8AC3E}">
        <p14:creationId xmlns:p14="http://schemas.microsoft.com/office/powerpoint/2010/main" val="127854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0277" y="1562473"/>
            <a:ext cx="10910277" cy="4247317"/>
          </a:xfrm>
          <a:prstGeom prst="rect">
            <a:avLst/>
          </a:prstGeom>
        </p:spPr>
        <p:txBody>
          <a:bodyPr wrap="square">
            <a:spAutoFit/>
          </a:bodyPr>
          <a:lstStyle/>
          <a:p>
            <a:pPr marL="285750" indent="-285750" fontAlgn="base">
              <a:buFont typeface="Arial" panose="020B0604020202020204" pitchFamily="34" charset="0"/>
              <a:buChar char="•"/>
            </a:pPr>
            <a:r>
              <a:rPr lang="en-US" b="1" dirty="0"/>
              <a:t>Data confidentiality: </a:t>
            </a:r>
            <a:r>
              <a:rPr lang="en-US" dirty="0"/>
              <a:t>refers to the protection of data stored in computer systems and networks from unauthorized access, use, disclosure, or modification. This is achieved through various methods, such as encryption and access controls.</a:t>
            </a:r>
          </a:p>
          <a:p>
            <a:pPr marL="285750" indent="-285750" fontAlgn="base">
              <a:buFont typeface="Arial" panose="020B0604020202020204" pitchFamily="34" charset="0"/>
              <a:buChar char="•"/>
            </a:pPr>
            <a:r>
              <a:rPr lang="en-US" b="1" dirty="0"/>
              <a:t>Network confidentiality:</a:t>
            </a:r>
            <a:r>
              <a:rPr lang="en-US" dirty="0"/>
              <a:t> refers to the protection of information transmitted over computer networks from unauthorized access, interception, or tampering. This is achieved through encryption and secure protocols such as SSL/TLS.</a:t>
            </a:r>
          </a:p>
          <a:p>
            <a:pPr marL="285750" indent="-285750" fontAlgn="base">
              <a:buFont typeface="Arial" panose="020B0604020202020204" pitchFamily="34" charset="0"/>
              <a:buChar char="•"/>
            </a:pPr>
            <a:r>
              <a:rPr lang="en-US" b="1" dirty="0"/>
              <a:t>End-to-end confidentiality:</a:t>
            </a:r>
            <a:r>
              <a:rPr lang="en-US" dirty="0"/>
              <a:t> refers to the protection of information transmitted between two endpoints, such as between a client and a server, from unauthorized access or tampering. This is achieved through encryption and secure protocols.</a:t>
            </a:r>
          </a:p>
          <a:p>
            <a:pPr marL="285750" indent="-285750" fontAlgn="base">
              <a:buFont typeface="Arial" panose="020B0604020202020204" pitchFamily="34" charset="0"/>
              <a:buChar char="•"/>
            </a:pPr>
            <a:r>
              <a:rPr lang="en-US" b="1" dirty="0"/>
              <a:t>Application confidentiality:</a:t>
            </a:r>
            <a:r>
              <a:rPr lang="en-US" dirty="0"/>
              <a:t> refers to the protection of sensitive information processed and stored by software applications from unauthorized access, use, or modification. This is achieved through user authentication, access controls, and encryption of data stored in the application.</a:t>
            </a:r>
          </a:p>
          <a:p>
            <a:pPr marL="285750" indent="-285750" fontAlgn="base">
              <a:buFont typeface="Arial" panose="020B0604020202020204" pitchFamily="34" charset="0"/>
              <a:buChar char="•"/>
            </a:pPr>
            <a:r>
              <a:rPr lang="en-US" b="1" dirty="0"/>
              <a:t>Disk and file confidentiality:</a:t>
            </a:r>
            <a:r>
              <a:rPr lang="en-US" dirty="0"/>
              <a:t> refers to the protection of data stored on physical storage devices, such as hard drives, from unauthorized access or theft. This is achieved through encryption, secure storage facilities, and access controls.</a:t>
            </a:r>
          </a:p>
        </p:txBody>
      </p:sp>
      <p:sp>
        <p:nvSpPr>
          <p:cNvPr id="4" name="Rectangle 3"/>
          <p:cNvSpPr/>
          <p:nvPr/>
        </p:nvSpPr>
        <p:spPr>
          <a:xfrm>
            <a:off x="558051" y="501133"/>
            <a:ext cx="4240595" cy="461665"/>
          </a:xfrm>
          <a:prstGeom prst="rect">
            <a:avLst/>
          </a:prstGeom>
        </p:spPr>
        <p:txBody>
          <a:bodyPr wrap="square">
            <a:spAutoFit/>
          </a:bodyPr>
          <a:lstStyle/>
          <a:p>
            <a:pPr fontAlgn="base"/>
            <a:r>
              <a:rPr lang="en-US" sz="2400" b="1" dirty="0"/>
              <a:t>Types of Confidentiality </a:t>
            </a:r>
            <a:endParaRPr lang="en-US" sz="2400" dirty="0"/>
          </a:p>
        </p:txBody>
      </p:sp>
    </p:spTree>
    <p:extLst>
      <p:ext uri="{BB962C8B-B14F-4D97-AF65-F5344CB8AC3E}">
        <p14:creationId xmlns:p14="http://schemas.microsoft.com/office/powerpoint/2010/main" val="124078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0277" y="1562473"/>
            <a:ext cx="10910277" cy="3970318"/>
          </a:xfrm>
          <a:prstGeom prst="rect">
            <a:avLst/>
          </a:prstGeom>
        </p:spPr>
        <p:txBody>
          <a:bodyPr wrap="square">
            <a:spAutoFit/>
          </a:bodyPr>
          <a:lstStyle/>
          <a:p>
            <a:pPr marL="285750" indent="-285750" fontAlgn="base">
              <a:buFont typeface="Arial" panose="020B0604020202020204" pitchFamily="34" charset="0"/>
              <a:buChar char="•"/>
            </a:pPr>
            <a:r>
              <a:rPr lang="en-US" b="1" dirty="0"/>
              <a:t>Encryption:</a:t>
            </a:r>
            <a:r>
              <a:rPr lang="en-US" dirty="0"/>
              <a:t> Encrypting sensitive data helps to protect it from unauthorized access and disclosure.</a:t>
            </a:r>
          </a:p>
          <a:p>
            <a:pPr marL="285750" indent="-285750" fontAlgn="base">
              <a:buFont typeface="Arial" panose="020B0604020202020204" pitchFamily="34" charset="0"/>
              <a:buChar char="•"/>
            </a:pPr>
            <a:r>
              <a:rPr lang="en-US" b="1" dirty="0"/>
              <a:t>Access control: </a:t>
            </a:r>
            <a:r>
              <a:rPr lang="en-US" dirty="0"/>
              <a:t>Confidentiality can be maintained by controlling who has access to sensitive information and limiting access to only those who need it.</a:t>
            </a:r>
          </a:p>
          <a:p>
            <a:pPr marL="285750" indent="-285750" fontAlgn="base">
              <a:buFont typeface="Arial" panose="020B0604020202020204" pitchFamily="34" charset="0"/>
              <a:buChar char="•"/>
            </a:pPr>
            <a:r>
              <a:rPr lang="en-US" b="1" dirty="0"/>
              <a:t>Data masking:</a:t>
            </a:r>
            <a:r>
              <a:rPr lang="en-US" dirty="0"/>
              <a:t> Data masking is a technique used to obscure sensitive information, such as credit card numbers or social security numbers, to prevent unauthorized access.</a:t>
            </a:r>
          </a:p>
          <a:p>
            <a:pPr marL="285750" indent="-285750" fontAlgn="base">
              <a:buFont typeface="Arial" panose="020B0604020202020204" pitchFamily="34" charset="0"/>
              <a:buChar char="•"/>
            </a:pPr>
            <a:r>
              <a:rPr lang="en-US" b="1" dirty="0"/>
              <a:t>Virtual private networks (VPNs): </a:t>
            </a:r>
            <a:r>
              <a:rPr lang="en-US" dirty="0"/>
              <a:t>VPNs allow users to securely connect to a network over the internet and protect the confidentiality of their data in transit.</a:t>
            </a:r>
          </a:p>
          <a:p>
            <a:pPr marL="285750" indent="-285750" fontAlgn="base">
              <a:buFont typeface="Arial" panose="020B0604020202020204" pitchFamily="34" charset="0"/>
              <a:buChar char="•"/>
            </a:pPr>
            <a:r>
              <a:rPr lang="en-US" b="1" dirty="0"/>
              <a:t>Secure file transfer protocols (SFTPs):</a:t>
            </a:r>
            <a:r>
              <a:rPr lang="en-US" dirty="0"/>
              <a:t> SFTPs are used to transfer sensitive data securely over the internet, protecting its confidentiality in transit.</a:t>
            </a:r>
          </a:p>
          <a:p>
            <a:pPr marL="285750" indent="-285750" fontAlgn="base">
              <a:buFont typeface="Arial" panose="020B0604020202020204" pitchFamily="34" charset="0"/>
              <a:buChar char="•"/>
            </a:pPr>
            <a:r>
              <a:rPr lang="en-US" b="1" dirty="0"/>
              <a:t>Two-factor authentication:</a:t>
            </a:r>
            <a:r>
              <a:rPr lang="en-US" dirty="0"/>
              <a:t> Two-factor authentication helps to ensure that only authorized users have access to sensitive information by requiring a second form of authentication, such as a fingerprint or a one-time code.</a:t>
            </a:r>
          </a:p>
          <a:p>
            <a:pPr marL="285750" indent="-285750" fontAlgn="base">
              <a:buFont typeface="Arial" panose="020B0604020202020204" pitchFamily="34" charset="0"/>
              <a:buChar char="•"/>
            </a:pPr>
            <a:r>
              <a:rPr lang="en-US" b="1" dirty="0"/>
              <a:t>Data loss prevention (DLP):</a:t>
            </a:r>
            <a:r>
              <a:rPr lang="en-US" dirty="0"/>
              <a:t> DLP is a security measure used to prevent sensitive data from being leaked or lost. It monitors and controls the flow of sensitive data, protecting its confidentiality.</a:t>
            </a:r>
          </a:p>
        </p:txBody>
      </p:sp>
      <p:sp>
        <p:nvSpPr>
          <p:cNvPr id="4" name="Rectangle 3"/>
          <p:cNvSpPr/>
          <p:nvPr/>
        </p:nvSpPr>
        <p:spPr>
          <a:xfrm>
            <a:off x="558051" y="501133"/>
            <a:ext cx="4240595" cy="461665"/>
          </a:xfrm>
          <a:prstGeom prst="rect">
            <a:avLst/>
          </a:prstGeom>
        </p:spPr>
        <p:txBody>
          <a:bodyPr wrap="square">
            <a:spAutoFit/>
          </a:bodyPr>
          <a:lstStyle/>
          <a:p>
            <a:pPr fontAlgn="base"/>
            <a:r>
              <a:rPr lang="en-US" sz="2400" b="1" dirty="0"/>
              <a:t>Uses of Confidentiality </a:t>
            </a:r>
            <a:endParaRPr lang="en-US" sz="2400" dirty="0"/>
          </a:p>
        </p:txBody>
      </p:sp>
    </p:spTree>
    <p:extLst>
      <p:ext uri="{BB962C8B-B14F-4D97-AF65-F5344CB8AC3E}">
        <p14:creationId xmlns:p14="http://schemas.microsoft.com/office/powerpoint/2010/main" val="163783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0277" y="1562473"/>
            <a:ext cx="10910277" cy="4247317"/>
          </a:xfrm>
          <a:prstGeom prst="rect">
            <a:avLst/>
          </a:prstGeom>
        </p:spPr>
        <p:txBody>
          <a:bodyPr wrap="square">
            <a:spAutoFit/>
          </a:bodyPr>
          <a:lstStyle/>
          <a:p>
            <a:pPr marL="285750" indent="-285750" fontAlgn="base">
              <a:buFont typeface="Arial" panose="020B0604020202020204" pitchFamily="34" charset="0"/>
              <a:buChar char="•"/>
            </a:pPr>
            <a:r>
              <a:rPr lang="en-US" b="1" dirty="0"/>
              <a:t>Insider threats: </a:t>
            </a:r>
            <a:r>
              <a:rPr lang="en-US" dirty="0"/>
              <a:t>Employees and contractors who have access to sensitive information can pose a threat to confidentiality if they intentionally or accidentally disclose it.</a:t>
            </a:r>
          </a:p>
          <a:p>
            <a:pPr marL="285750" indent="-285750" fontAlgn="base">
              <a:buFont typeface="Arial" panose="020B0604020202020204" pitchFamily="34" charset="0"/>
              <a:buChar char="•"/>
            </a:pPr>
            <a:r>
              <a:rPr lang="en-US" b="1" dirty="0" err="1"/>
              <a:t>Cyberattacks</a:t>
            </a:r>
            <a:r>
              <a:rPr lang="en-US" b="1" dirty="0"/>
              <a:t>: </a:t>
            </a:r>
            <a:r>
              <a:rPr lang="en-US" dirty="0"/>
              <a:t>Hackers and cybercriminals can exploit vulnerabilities in systems and networks to access and steal confidential information.</a:t>
            </a:r>
          </a:p>
          <a:p>
            <a:pPr marL="285750" indent="-285750" fontAlgn="base">
              <a:buFont typeface="Arial" panose="020B0604020202020204" pitchFamily="34" charset="0"/>
              <a:buChar char="•"/>
            </a:pPr>
            <a:r>
              <a:rPr lang="en-US" b="1" dirty="0"/>
              <a:t>Social engineering:</a:t>
            </a:r>
            <a:r>
              <a:rPr lang="en-US" dirty="0"/>
              <a:t> Social engineers use tactics like phishing and pretexting to trick individuals into revealing sensitive information, compromising its confidentiality.</a:t>
            </a:r>
          </a:p>
          <a:p>
            <a:pPr marL="285750" indent="-285750" fontAlgn="base">
              <a:buFont typeface="Arial" panose="020B0604020202020204" pitchFamily="34" charset="0"/>
              <a:buChar char="•"/>
            </a:pPr>
            <a:r>
              <a:rPr lang="en-US" b="1" dirty="0"/>
              <a:t>Human error: </a:t>
            </a:r>
            <a:r>
              <a:rPr lang="en-US" dirty="0"/>
              <a:t>Confidential information can be accidentally disclosed through human error, such as sending an email to the wrong recipient or leaving sensitive information in plain sight.</a:t>
            </a:r>
          </a:p>
          <a:p>
            <a:pPr marL="285750" indent="-285750" fontAlgn="base">
              <a:buFont typeface="Arial" panose="020B0604020202020204" pitchFamily="34" charset="0"/>
              <a:buChar char="•"/>
            </a:pPr>
            <a:r>
              <a:rPr lang="en-US" b="1" dirty="0"/>
              <a:t>Technical failures: </a:t>
            </a:r>
            <a:r>
              <a:rPr lang="en-US" dirty="0"/>
              <a:t>Technical failures, such as hardware failures or data breaches, can result in the loss or exposure of confidential information.</a:t>
            </a:r>
          </a:p>
          <a:p>
            <a:pPr marL="285750" indent="-285750" fontAlgn="base">
              <a:buFont typeface="Arial" panose="020B0604020202020204" pitchFamily="34" charset="0"/>
              <a:buChar char="•"/>
            </a:pPr>
            <a:r>
              <a:rPr lang="en-US" b="1" dirty="0"/>
              <a:t>Inadequate security measures: </a:t>
            </a:r>
            <a:r>
              <a:rPr lang="en-US" dirty="0"/>
              <a:t>Inadequate security measures, such as weak passwords or outdated encryption algorithms, can make it easier for unauthorized parties to access confidential information.</a:t>
            </a:r>
          </a:p>
          <a:p>
            <a:pPr marL="285750" indent="-285750" fontAlgn="base">
              <a:buFont typeface="Arial" panose="020B0604020202020204" pitchFamily="34" charset="0"/>
              <a:buChar char="•"/>
            </a:pPr>
            <a:r>
              <a:rPr lang="en-US" b="1" dirty="0"/>
              <a:t>Legal and regulatory compliance:</a:t>
            </a:r>
            <a:r>
              <a:rPr lang="en-US" dirty="0"/>
              <a:t> Confidentiality can be impacted by legal and regulatory requirements, such as data protection laws, that may require the disclosure of sensitive information in certain circumstances.</a:t>
            </a:r>
          </a:p>
        </p:txBody>
      </p:sp>
      <p:sp>
        <p:nvSpPr>
          <p:cNvPr id="4" name="Rectangle 3"/>
          <p:cNvSpPr/>
          <p:nvPr/>
        </p:nvSpPr>
        <p:spPr>
          <a:xfrm>
            <a:off x="558051" y="501133"/>
            <a:ext cx="4240595" cy="461665"/>
          </a:xfrm>
          <a:prstGeom prst="rect">
            <a:avLst/>
          </a:prstGeom>
        </p:spPr>
        <p:txBody>
          <a:bodyPr wrap="square">
            <a:spAutoFit/>
          </a:bodyPr>
          <a:lstStyle/>
          <a:p>
            <a:pPr fontAlgn="base"/>
            <a:r>
              <a:rPr lang="en-US" sz="2400" b="1" dirty="0"/>
              <a:t>Issues  of Confidentiality </a:t>
            </a:r>
            <a:endParaRPr lang="en-US" sz="2400" dirty="0"/>
          </a:p>
        </p:txBody>
      </p:sp>
    </p:spTree>
    <p:extLst>
      <p:ext uri="{BB962C8B-B14F-4D97-AF65-F5344CB8AC3E}">
        <p14:creationId xmlns:p14="http://schemas.microsoft.com/office/powerpoint/2010/main" val="36083324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133</TotalTime>
  <Words>1465</Words>
  <Application>Microsoft Office PowerPoint</Application>
  <PresentationFormat>Custom</PresentationFormat>
  <Paragraphs>125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Century Gothic</vt:lpstr>
      <vt:lpstr>Courier New</vt:lpstr>
      <vt:lpstr>Palatino Linotype</vt:lpstr>
      <vt:lpstr>Executive</vt:lpstr>
      <vt:lpstr>CS-5615: Information Security</vt:lpstr>
      <vt:lpstr>What is Information ?</vt:lpstr>
      <vt:lpstr>What is Security?</vt:lpstr>
      <vt:lpstr>What Requires Protection?</vt:lpstr>
      <vt:lpstr>Why Do We Need Information Security?</vt:lpstr>
      <vt:lpstr>Reasons for Information Security</vt:lpstr>
      <vt:lpstr>PowerPoint Presentation</vt:lpstr>
      <vt:lpstr>PowerPoint Presentation</vt:lpstr>
      <vt:lpstr>Examples 1 :- </vt:lpstr>
      <vt:lpstr>Examples 2 :- </vt:lpstr>
      <vt:lpstr>Examples 3 :- </vt:lpstr>
      <vt:lpstr>PowerPoint Presentation</vt:lpstr>
      <vt:lpstr>Confidentiality</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CS-5615: Information Security</dc:title>
  <dc:creator>UMANSH SHARMA</dc:creator>
  <dc:description>generated using python-pptx</dc:description>
  <cp:lastModifiedBy>UMANSH SHARMA</cp:lastModifiedBy>
  <cp:revision>12</cp:revision>
  <dcterms:created xsi:type="dcterms:W3CDTF">2013-01-27T09:14:16Z</dcterms:created>
  <dcterms:modified xsi:type="dcterms:W3CDTF">2026-07-23T08:40:20Z</dcterms:modified>
</cp:coreProperties>
</file>