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doc" ContentType="application/msword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6858000" cy="9144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3186" y="-7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2143125" y="685800"/>
            <a:ext cx="257175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73429D48-BF97-43CD-B96D-AA0AB290115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375241-FE73-4CD7-A6C3-3186B5C0F7EB}" type="slidenum">
              <a:rPr lang="en-US"/>
              <a:pPr/>
              <a:t>1</a:t>
            </a:fld>
            <a:endParaRPr lang="en-US"/>
          </a:p>
        </p:txBody>
      </p:sp>
      <p:sp>
        <p:nvSpPr>
          <p:cNvPr id="747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B5A1C9-BE63-4026-926F-784107140DDE}" type="slidenum">
              <a:rPr lang="en-US"/>
              <a:pPr/>
              <a:t>2</a:t>
            </a:fld>
            <a:endParaRPr lang="en-US"/>
          </a:p>
        </p:txBody>
      </p:sp>
      <p:sp>
        <p:nvSpPr>
          <p:cNvPr id="614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54B8DD-B330-4235-BA65-B1D0075A6F4C}" type="slidenum">
              <a:rPr lang="en-US"/>
              <a:pPr/>
              <a:t>3</a:t>
            </a:fld>
            <a:endParaRPr lang="en-US"/>
          </a:p>
        </p:txBody>
      </p:sp>
      <p:sp>
        <p:nvSpPr>
          <p:cNvPr id="819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32473E-43C5-45C0-827A-D437DBA73E02}" type="slidenum">
              <a:rPr lang="en-US"/>
              <a:pPr/>
              <a:t>4</a:t>
            </a:fld>
            <a:endParaRPr lang="en-US"/>
          </a:p>
        </p:txBody>
      </p:sp>
      <p:sp>
        <p:nvSpPr>
          <p:cNvPr id="1024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1DEC4F-06D2-4AAE-B3AA-583F90F95F7A}" type="slidenum">
              <a:rPr lang="en-US"/>
              <a:pPr/>
              <a:t>5</a:t>
            </a:fld>
            <a:endParaRPr lang="en-US"/>
          </a:p>
        </p:txBody>
      </p:sp>
      <p:sp>
        <p:nvSpPr>
          <p:cNvPr id="1229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EE8B2E-251D-4FDC-A3CD-47B1790B939D}" type="slidenum">
              <a:rPr lang="en-US"/>
              <a:pPr/>
              <a:t>6</a:t>
            </a:fld>
            <a:endParaRPr lang="en-US"/>
          </a:p>
        </p:txBody>
      </p:sp>
      <p:sp>
        <p:nvSpPr>
          <p:cNvPr id="1433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1418B7-9B73-4706-9730-0E24E61A0633}" type="slidenum">
              <a:rPr lang="en-US"/>
              <a:pPr/>
              <a:t>7</a:t>
            </a:fld>
            <a:endParaRPr lang="en-US"/>
          </a:p>
        </p:txBody>
      </p:sp>
      <p:sp>
        <p:nvSpPr>
          <p:cNvPr id="163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FEAC61-5049-4D61-A629-422C18C28941}" type="slidenum">
              <a:rPr lang="en-US"/>
              <a:pPr/>
              <a:t>8</a:t>
            </a:fld>
            <a:endParaRPr lang="en-US"/>
          </a:p>
        </p:txBody>
      </p:sp>
      <p:sp>
        <p:nvSpPr>
          <p:cNvPr id="1843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F4E295-F07F-4BB8-9A21-C3E68A693686}" type="slidenum">
              <a:rPr lang="en-US"/>
              <a:pPr/>
              <a:t>9</a:t>
            </a:fld>
            <a:endParaRPr lang="en-US"/>
          </a:p>
        </p:txBody>
      </p:sp>
      <p:sp>
        <p:nvSpPr>
          <p:cNvPr id="2048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44CC92-5B90-4AD1-B9B5-6FD8CECCCDB3}" type="slidenum">
              <a:rPr lang="en-US"/>
              <a:pPr/>
              <a:t>10</a:t>
            </a:fld>
            <a:endParaRPr lang="en-US"/>
          </a:p>
        </p:txBody>
      </p:sp>
      <p:sp>
        <p:nvSpPr>
          <p:cNvPr id="225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DCECF2-15A1-4B5E-A47B-FA30E8B7CC4C}" type="slidenum">
              <a:rPr lang="en-US"/>
              <a:pPr/>
              <a:t>11</a:t>
            </a:fld>
            <a:endParaRPr lang="en-US"/>
          </a:p>
        </p:txBody>
      </p:sp>
      <p:sp>
        <p:nvSpPr>
          <p:cNvPr id="245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4A7FA9-8FE5-4D7A-8823-13180463D1DB}" type="slidenum">
              <a:rPr lang="en-US"/>
              <a:pPr/>
              <a:t>12</a:t>
            </a:fld>
            <a:endParaRPr lang="en-US"/>
          </a:p>
        </p:txBody>
      </p:sp>
      <p:sp>
        <p:nvSpPr>
          <p:cNvPr id="2662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50B3D0-8381-4C0A-915E-9EC4154E1E1A}" type="slidenum">
              <a:rPr lang="en-US"/>
              <a:pPr/>
              <a:t>13</a:t>
            </a:fld>
            <a:endParaRPr lang="en-US"/>
          </a:p>
        </p:txBody>
      </p:sp>
      <p:sp>
        <p:nvSpPr>
          <p:cNvPr id="286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10A988-8BDE-4AD1-A0A4-3D86B75136AC}" type="slidenum">
              <a:rPr lang="en-US"/>
              <a:pPr/>
              <a:t>14</a:t>
            </a:fld>
            <a:endParaRPr lang="en-US"/>
          </a:p>
        </p:txBody>
      </p:sp>
      <p:sp>
        <p:nvSpPr>
          <p:cNvPr id="307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AAC0E2-F9C3-446A-8F33-9412CF933560}" type="slidenum">
              <a:rPr lang="en-US"/>
              <a:pPr/>
              <a:t>15</a:t>
            </a:fld>
            <a:endParaRPr lang="en-US"/>
          </a:p>
        </p:txBody>
      </p:sp>
      <p:sp>
        <p:nvSpPr>
          <p:cNvPr id="3277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FEBFB9-805B-4229-B0AC-A164F6064F54}" type="slidenum">
              <a:rPr lang="en-US"/>
              <a:pPr/>
              <a:t>16</a:t>
            </a:fld>
            <a:endParaRPr lang="en-US"/>
          </a:p>
        </p:txBody>
      </p:sp>
      <p:sp>
        <p:nvSpPr>
          <p:cNvPr id="348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E22D45-56FC-46C8-8F64-E2E900637595}" type="slidenum">
              <a:rPr lang="en-US"/>
              <a:pPr/>
              <a:t>17</a:t>
            </a:fld>
            <a:endParaRPr lang="en-US"/>
          </a:p>
        </p:txBody>
      </p:sp>
      <p:sp>
        <p:nvSpPr>
          <p:cNvPr id="368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8664E9-031B-4CBE-8BE3-112EBC1C1565}" type="slidenum">
              <a:rPr lang="en-US"/>
              <a:pPr/>
              <a:t>18</a:t>
            </a:fld>
            <a:endParaRPr lang="en-US"/>
          </a:p>
        </p:txBody>
      </p:sp>
      <p:sp>
        <p:nvSpPr>
          <p:cNvPr id="3891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AB7002-B96B-4D69-A95B-900EFD8A5743}" type="slidenum">
              <a:rPr lang="en-US"/>
              <a:pPr/>
              <a:t>19</a:t>
            </a:fld>
            <a:endParaRPr lang="en-US"/>
          </a:p>
        </p:txBody>
      </p:sp>
      <p:sp>
        <p:nvSpPr>
          <p:cNvPr id="4096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73DBE9-4CEA-4B6A-950F-25AF2EFE6DDB}" type="slidenum">
              <a:rPr lang="en-US"/>
              <a:pPr/>
              <a:t>20</a:t>
            </a:fld>
            <a:endParaRPr lang="en-US"/>
          </a:p>
        </p:txBody>
      </p:sp>
      <p:sp>
        <p:nvSpPr>
          <p:cNvPr id="4301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D1B89D-7F62-49C5-8413-9DF1E1AA14A9}" type="slidenum">
              <a:rPr lang="en-US"/>
              <a:pPr/>
              <a:t>21</a:t>
            </a:fld>
            <a:endParaRPr lang="en-US"/>
          </a:p>
        </p:txBody>
      </p:sp>
      <p:sp>
        <p:nvSpPr>
          <p:cNvPr id="4505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BC02EF-6710-4191-8C63-D30189B87AB9}" type="slidenum">
              <a:rPr lang="en-US"/>
              <a:pPr/>
              <a:t>22</a:t>
            </a:fld>
            <a:endParaRPr lang="en-US"/>
          </a:p>
        </p:txBody>
      </p:sp>
      <p:sp>
        <p:nvSpPr>
          <p:cNvPr id="4710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AFDE12-5557-4B39-B86D-F26A9AE3C284}" type="slidenum">
              <a:rPr lang="en-US"/>
              <a:pPr/>
              <a:t>23</a:t>
            </a:fld>
            <a:endParaRPr lang="en-US"/>
          </a:p>
        </p:txBody>
      </p:sp>
      <p:sp>
        <p:nvSpPr>
          <p:cNvPr id="491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9AE37E-4662-4B61-80A4-F91EAE1DC25D}" type="slidenum">
              <a:rPr lang="en-US"/>
              <a:pPr/>
              <a:t>24</a:t>
            </a:fld>
            <a:endParaRPr lang="en-US"/>
          </a:p>
        </p:txBody>
      </p:sp>
      <p:sp>
        <p:nvSpPr>
          <p:cNvPr id="512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211036-29D1-4B2F-A6D8-E2898A2A2095}" type="slidenum">
              <a:rPr lang="en-US"/>
              <a:pPr/>
              <a:t>25</a:t>
            </a:fld>
            <a:endParaRPr lang="en-US"/>
          </a:p>
        </p:txBody>
      </p:sp>
      <p:sp>
        <p:nvSpPr>
          <p:cNvPr id="532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D39B58-B147-44F0-A966-3A2949BA8436}" type="slidenum">
              <a:rPr lang="en-US"/>
              <a:pPr/>
              <a:t>26</a:t>
            </a:fld>
            <a:endParaRPr lang="en-US"/>
          </a:p>
        </p:txBody>
      </p:sp>
      <p:sp>
        <p:nvSpPr>
          <p:cNvPr id="5529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F43D62-13BC-4BC1-B66E-293CA1A8A398}" type="slidenum">
              <a:rPr lang="en-US"/>
              <a:pPr/>
              <a:t>27</a:t>
            </a:fld>
            <a:endParaRPr lang="en-US"/>
          </a:p>
        </p:txBody>
      </p:sp>
      <p:sp>
        <p:nvSpPr>
          <p:cNvPr id="5734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6DE75D-FE3A-4B1D-9501-5D96CD378ED4}" type="slidenum">
              <a:rPr lang="en-US"/>
              <a:pPr/>
              <a:t>28</a:t>
            </a:fld>
            <a:endParaRPr lang="en-US"/>
          </a:p>
        </p:txBody>
      </p:sp>
      <p:sp>
        <p:nvSpPr>
          <p:cNvPr id="5939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371FA6-8845-43F9-9DBB-CD308CCECB30}" type="slidenum">
              <a:rPr lang="en-US"/>
              <a:pPr/>
              <a:t>29</a:t>
            </a:fld>
            <a:endParaRPr lang="en-US"/>
          </a:p>
        </p:txBody>
      </p:sp>
      <p:sp>
        <p:nvSpPr>
          <p:cNvPr id="6144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0E8AC9-05A3-45D0-91C3-8A0ECE30420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0292B2-7E1E-4332-BC52-561D2B26B36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0D06C6-FA06-4D9B-88D8-1D8DB06FC90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E0116E-F2F0-4415-B3CB-6F67497418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6F0FD4-518B-40A1-B391-3AB54CC3A5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84801F-DB5D-4DF9-B115-E6486C1AC3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86BB9A-9779-4689-AD60-8B84E6800F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5C1778-E7D3-41FC-8410-EE9AC36F72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1D07B8-A6F8-437D-88CC-81FE58E264E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277DCE-7CFC-4F5D-B498-38A6C085A04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86325" y="812800"/>
            <a:ext cx="1457325" cy="7315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812800"/>
            <a:ext cx="4219575" cy="7315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2E4AA5-63A7-4743-B1CC-AC227F18B8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2800"/>
            <a:ext cx="58293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1600"/>
            <a:ext cx="58293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1200"/>
            <a:ext cx="21717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876800" y="83820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BAA19F09-4528-4A44-BA41-447BE882271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8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9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10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Microsoft_Office_Word_97_-_2003_Document1.doc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1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1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oleObject" Target="../embeddings/oleObject13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4" Type="http://schemas.openxmlformats.org/officeDocument/2006/relationships/oleObject" Target="../embeddings/oleObject1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oleObject" Target="../embeddings/oleObject15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4" Type="http://schemas.openxmlformats.org/officeDocument/2006/relationships/oleObject" Target="../embeddings/oleObject16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oleObject" Target="../embeddings/oleObject17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oleObject" Target="../embeddings/oleObject18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5" Type="http://schemas.openxmlformats.org/officeDocument/2006/relationships/oleObject" Target="../embeddings/oleObject20.bin"/><Relationship Id="rId4" Type="http://schemas.openxmlformats.org/officeDocument/2006/relationships/oleObject" Target="../embeddings/oleObject19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609600" y="3200400"/>
            <a:ext cx="56388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2800"/>
              <a:t>Chapter 1</a:t>
            </a:r>
            <a:endParaRPr lang="en-US" sz="4800"/>
          </a:p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sz="2800"/>
              <a:t>Data Communications</a:t>
            </a:r>
          </a:p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sz="2800"/>
              <a:t>and</a:t>
            </a:r>
          </a:p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sz="2800"/>
              <a:t>NM Overview</a:t>
            </a:r>
            <a:endParaRPr lang="en-US" sz="3600">
              <a:latin typeface="Times New Roman" pitchFamily="18" charset="0"/>
            </a:endParaRP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51054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sp>
        <p:nvSpPr>
          <p:cNvPr id="4107" name="Rectangle 11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4108" name="Line 12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Text Box 13"/>
          <p:cNvSpPr txBox="1">
            <a:spLocks noChangeArrowheads="1"/>
          </p:cNvSpPr>
          <p:nvPr/>
        </p:nvSpPr>
        <p:spPr bwMode="auto">
          <a:xfrm>
            <a:off x="5851525" y="8469313"/>
            <a:ext cx="4397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Line 3"/>
          <p:cNvSpPr>
            <a:spLocks noChangeShapeType="1"/>
          </p:cNvSpPr>
          <p:nvPr/>
        </p:nvSpPr>
        <p:spPr bwMode="auto">
          <a:xfrm>
            <a:off x="609600" y="5257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5257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2278063" y="533400"/>
            <a:ext cx="15811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Outline</a:t>
            </a:r>
            <a:endParaRPr lang="en-US" sz="3200"/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593725" y="1308100"/>
            <a:ext cx="6007100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FontTx/>
              <a:buChar char="•"/>
            </a:pPr>
            <a:r>
              <a:rPr lang="en-US"/>
              <a:t> Analogy of telephone network</a:t>
            </a:r>
          </a:p>
          <a:p>
            <a:pPr>
              <a:lnSpc>
                <a:spcPct val="130000"/>
              </a:lnSpc>
              <a:buFontTx/>
              <a:buChar char="•"/>
            </a:pPr>
            <a:r>
              <a:rPr lang="en-US"/>
              <a:t> Data and telecommunication network</a:t>
            </a:r>
          </a:p>
          <a:p>
            <a:pPr>
              <a:lnSpc>
                <a:spcPct val="130000"/>
              </a:lnSpc>
              <a:buFontTx/>
              <a:buChar char="•"/>
            </a:pPr>
            <a:r>
              <a:rPr lang="en-US"/>
              <a:t> Distributed computing environment</a:t>
            </a:r>
          </a:p>
          <a:p>
            <a:pPr>
              <a:lnSpc>
                <a:spcPct val="130000"/>
              </a:lnSpc>
              <a:buFontTx/>
              <a:buChar char="•"/>
            </a:pPr>
            <a:r>
              <a:rPr lang="en-US"/>
              <a:t> Internet</a:t>
            </a:r>
          </a:p>
          <a:p>
            <a:pPr>
              <a:lnSpc>
                <a:spcPct val="130000"/>
              </a:lnSpc>
              <a:buFontTx/>
              <a:buChar char="•"/>
            </a:pPr>
            <a:r>
              <a:rPr lang="en-US"/>
              <a:t> Protocols and standards</a:t>
            </a:r>
          </a:p>
          <a:p>
            <a:pPr>
              <a:lnSpc>
                <a:spcPct val="130000"/>
              </a:lnSpc>
              <a:buFontTx/>
              <a:buChar char="•"/>
            </a:pPr>
            <a:r>
              <a:rPr lang="en-US"/>
              <a:t> IT management</a:t>
            </a:r>
          </a:p>
          <a:p>
            <a:pPr>
              <a:lnSpc>
                <a:spcPct val="130000"/>
              </a:lnSpc>
              <a:buFontTx/>
              <a:buChar char="•"/>
            </a:pPr>
            <a:r>
              <a:rPr lang="en-US"/>
              <a:t> Network and system management</a:t>
            </a:r>
          </a:p>
          <a:p>
            <a:pPr>
              <a:lnSpc>
                <a:spcPct val="130000"/>
              </a:lnSpc>
              <a:buFontTx/>
              <a:buChar char="•"/>
            </a:pPr>
            <a:r>
              <a:rPr lang="en-US"/>
              <a:t> Current status and future of network management </a:t>
            </a:r>
          </a:p>
        </p:txBody>
      </p:sp>
      <p:sp>
        <p:nvSpPr>
          <p:cNvPr id="5137" name="Rectangle 17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5138" name="Line 18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39" name="Text Box 19"/>
          <p:cNvSpPr txBox="1">
            <a:spLocks noChangeArrowheads="1"/>
          </p:cNvSpPr>
          <p:nvPr/>
        </p:nvSpPr>
        <p:spPr bwMode="auto">
          <a:xfrm>
            <a:off x="5851525" y="8469313"/>
            <a:ext cx="4397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71" name="Line 3"/>
          <p:cNvSpPr>
            <a:spLocks noChangeShapeType="1"/>
          </p:cNvSpPr>
          <p:nvPr/>
        </p:nvSpPr>
        <p:spPr bwMode="auto">
          <a:xfrm>
            <a:off x="609600" y="5257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0" y="5257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1106488" y="533400"/>
            <a:ext cx="39258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Telephone Network</a:t>
            </a:r>
            <a:endParaRPr lang="en-US" sz="3200"/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517525" y="1382713"/>
            <a:ext cx="5730875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/>
              <a:t> Characteristics:</a:t>
            </a:r>
          </a:p>
          <a:p>
            <a:pPr lvl="1">
              <a:buFontTx/>
              <a:buChar char="•"/>
            </a:pPr>
            <a:r>
              <a:rPr lang="en-US"/>
              <a:t> Reliable - does what is expected of it</a:t>
            </a:r>
          </a:p>
          <a:p>
            <a:pPr lvl="1">
              <a:buFontTx/>
              <a:buChar char="•"/>
            </a:pPr>
            <a:r>
              <a:rPr lang="en-US"/>
              <a:t> Dependable - always there when you need </a:t>
            </a:r>
            <a:br>
              <a:rPr lang="en-US"/>
            </a:br>
            <a:r>
              <a:rPr lang="en-US"/>
              <a:t>  it (remember 911?)</a:t>
            </a:r>
          </a:p>
          <a:p>
            <a:pPr lvl="1">
              <a:buFontTx/>
              <a:buChar char="•"/>
            </a:pPr>
            <a:r>
              <a:rPr lang="en-US"/>
              <a:t> Good quality (connection) - hearing each </a:t>
            </a:r>
            <a:br>
              <a:rPr lang="en-US"/>
            </a:br>
            <a:r>
              <a:rPr lang="en-US"/>
              <a:t>  other well</a:t>
            </a:r>
          </a:p>
          <a:p>
            <a:pPr>
              <a:buFontTx/>
              <a:buChar char="•"/>
            </a:pPr>
            <a:r>
              <a:rPr lang="en-US"/>
              <a:t> Reasons:</a:t>
            </a:r>
          </a:p>
          <a:p>
            <a:pPr lvl="1">
              <a:buFontTx/>
              <a:buChar char="•"/>
            </a:pPr>
            <a:r>
              <a:rPr lang="en-US"/>
              <a:t> Good planning, design, and implementation</a:t>
            </a:r>
          </a:p>
          <a:p>
            <a:pPr lvl="1">
              <a:buFontTx/>
              <a:buChar char="•"/>
            </a:pPr>
            <a:r>
              <a:rPr lang="en-US"/>
              <a:t> Good operation and management of </a:t>
            </a:r>
            <a:br>
              <a:rPr lang="en-US"/>
            </a:br>
            <a:r>
              <a:rPr lang="en-US"/>
              <a:t>  network</a:t>
            </a:r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7180" name="Line 12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5851525" y="8469313"/>
            <a:ext cx="4397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9" name="Line 3"/>
          <p:cNvSpPr>
            <a:spLocks noChangeShapeType="1"/>
          </p:cNvSpPr>
          <p:nvPr/>
        </p:nvSpPr>
        <p:spPr bwMode="auto">
          <a:xfrm>
            <a:off x="609600" y="61722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0" y="61722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466725" y="533400"/>
            <a:ext cx="52101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Telephone Network Model</a:t>
            </a:r>
            <a:endParaRPr lang="en-US" sz="3200"/>
          </a:p>
        </p:txBody>
      </p:sp>
      <p:sp>
        <p:nvSpPr>
          <p:cNvPr id="9225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9226" name="Object 10"/>
          <p:cNvGraphicFramePr>
            <a:graphicFrameLocks noChangeAspect="1"/>
          </p:cNvGraphicFramePr>
          <p:nvPr/>
        </p:nvGraphicFramePr>
        <p:xfrm>
          <a:off x="990600" y="1219200"/>
          <a:ext cx="5029200" cy="4635500"/>
        </p:xfrm>
        <a:graphic>
          <a:graphicData uri="http://schemas.openxmlformats.org/presentationml/2006/ole">
            <p:oleObj spid="_x0000_s9226" name="VISIO" r:id="rId4" imgW="7139520" imgH="6580080" progId="Visio.Drawing.4">
              <p:embed/>
            </p:oleObj>
          </a:graphicData>
        </a:graphic>
      </p:graphicFrame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517525" y="6564313"/>
            <a:ext cx="5235575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Notice the hierarchy of switches</a:t>
            </a:r>
          </a:p>
          <a:p>
            <a:pPr>
              <a:buFontTx/>
              <a:buChar char="•"/>
            </a:pPr>
            <a:r>
              <a:rPr lang="en-US"/>
              <a:t> Primary and secondary routes programmed</a:t>
            </a:r>
          </a:p>
          <a:p>
            <a:pPr>
              <a:buFontTx/>
              <a:buChar char="•"/>
            </a:pPr>
            <a:r>
              <a:rPr lang="en-US"/>
              <a:t> Automatic routing</a:t>
            </a:r>
          </a:p>
          <a:p>
            <a:pPr>
              <a:buFontTx/>
              <a:buChar char="•"/>
            </a:pPr>
            <a:r>
              <a:rPr lang="en-US"/>
              <a:t> Where is the most likely failure?</a:t>
            </a:r>
          </a:p>
          <a:p>
            <a:pPr>
              <a:buFontTx/>
              <a:buChar char="•"/>
            </a:pPr>
            <a:r>
              <a:rPr lang="en-US"/>
              <a:t> Use of Operations Systems to ensure QoS</a:t>
            </a:r>
          </a:p>
        </p:txBody>
      </p: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9229" name="Line 13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5851525" y="8469313"/>
            <a:ext cx="4397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67" name="Line 3"/>
          <p:cNvSpPr>
            <a:spLocks noChangeShapeType="1"/>
          </p:cNvSpPr>
          <p:nvPr/>
        </p:nvSpPr>
        <p:spPr bwMode="auto">
          <a:xfrm>
            <a:off x="609600" y="6096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0" y="60960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57912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685800" y="609600"/>
            <a:ext cx="53498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Operations Systems / NOC</a:t>
            </a:r>
            <a:endParaRPr lang="en-US" sz="3200"/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228600" y="1447800"/>
            <a:ext cx="6342063" cy="405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Monitor telephone network parameters</a:t>
            </a:r>
          </a:p>
          <a:p>
            <a:pPr lvl="1">
              <a:buFontTx/>
              <a:buChar char="•"/>
            </a:pPr>
            <a:r>
              <a:rPr lang="en-US"/>
              <a:t> S/N ratio, transmission loss, call blockage, etc.</a:t>
            </a:r>
          </a:p>
          <a:p>
            <a:pPr>
              <a:buFontTx/>
              <a:buChar char="•"/>
            </a:pPr>
            <a:r>
              <a:rPr lang="en-US"/>
              <a:t> Real-time management of network</a:t>
            </a:r>
          </a:p>
          <a:p>
            <a:pPr>
              <a:buFontTx/>
              <a:buChar char="•"/>
            </a:pPr>
            <a:r>
              <a:rPr lang="en-US"/>
              <a:t> Trunk (logical entity between switches) maintenance</a:t>
            </a:r>
            <a:br>
              <a:rPr lang="en-US"/>
            </a:br>
            <a:r>
              <a:rPr lang="en-US"/>
              <a:t>   system measures loss and S/N.  Trunks not meeting </a:t>
            </a:r>
            <a:br>
              <a:rPr lang="en-US"/>
            </a:br>
            <a:r>
              <a:rPr lang="en-US"/>
              <a:t>   QoS are removed before customer notices poor</a:t>
            </a:r>
            <a:br>
              <a:rPr lang="en-US"/>
            </a:br>
            <a:r>
              <a:rPr lang="en-US"/>
              <a:t>   quality</a:t>
            </a:r>
          </a:p>
          <a:p>
            <a:pPr>
              <a:buFontTx/>
              <a:buChar char="•"/>
            </a:pPr>
            <a:r>
              <a:rPr lang="en-US"/>
              <a:t> Traffic measurement systems measure call blockage.</a:t>
            </a:r>
            <a:br>
              <a:rPr lang="en-US"/>
            </a:br>
            <a:r>
              <a:rPr lang="en-US"/>
              <a:t>   Additional switch planned to keep the call blockage</a:t>
            </a:r>
            <a:br>
              <a:rPr lang="en-US"/>
            </a:br>
            <a:r>
              <a:rPr lang="en-US"/>
              <a:t>   below acceptable level</a:t>
            </a:r>
          </a:p>
          <a:p>
            <a:pPr>
              <a:buFontTx/>
              <a:buChar char="•"/>
            </a:pPr>
            <a:r>
              <a:rPr lang="en-US"/>
              <a:t> Operations systems are distributed at central offices</a:t>
            </a:r>
          </a:p>
          <a:p>
            <a:pPr>
              <a:buFontTx/>
              <a:buChar char="•"/>
            </a:pPr>
            <a:r>
              <a:rPr lang="en-US"/>
              <a:t> Network management done centrally from Network</a:t>
            </a:r>
            <a:br>
              <a:rPr lang="en-US"/>
            </a:br>
            <a:r>
              <a:rPr lang="en-US"/>
              <a:t>   Operations Center (NOC)</a:t>
            </a:r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11277" name="Line 13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5851525" y="8469313"/>
            <a:ext cx="4397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15" name="Line 3"/>
          <p:cNvSpPr>
            <a:spLocks noChangeShapeType="1"/>
          </p:cNvSpPr>
          <p:nvPr/>
        </p:nvSpPr>
        <p:spPr bwMode="auto">
          <a:xfrm>
            <a:off x="609600" y="5257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0" y="5257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57912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</a:t>
            </a:r>
            <a:endParaRPr lang="en-US" sz="1600" b="1"/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457200" y="685800"/>
            <a:ext cx="5703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b="1"/>
              <a:t>Data and Telecommunication Network</a:t>
            </a:r>
            <a:endParaRPr lang="en-US" sz="3200"/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13322" name="Object 10"/>
          <p:cNvGraphicFramePr>
            <a:graphicFrameLocks noChangeAspect="1"/>
          </p:cNvGraphicFramePr>
          <p:nvPr/>
        </p:nvGraphicFramePr>
        <p:xfrm>
          <a:off x="609600" y="1447800"/>
          <a:ext cx="5562600" cy="3478213"/>
        </p:xfrm>
        <a:graphic>
          <a:graphicData uri="http://schemas.openxmlformats.org/presentationml/2006/ole">
            <p:oleObj spid="_x0000_s13322" name="VISIO" r:id="rId4" imgW="7951680" imgH="4973400" progId="Visio.Drawing.4">
              <p:embed/>
            </p:oleObj>
          </a:graphicData>
        </a:graphic>
      </p:graphicFrame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517525" y="5726113"/>
            <a:ext cx="5810250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Computer data is carried over long distance by</a:t>
            </a:r>
            <a:br>
              <a:rPr lang="en-US"/>
            </a:br>
            <a:r>
              <a:rPr lang="en-US"/>
              <a:t>   telephone (telecommunication network) </a:t>
            </a:r>
          </a:p>
          <a:p>
            <a:pPr>
              <a:buFontTx/>
              <a:buChar char="•"/>
            </a:pPr>
            <a:r>
              <a:rPr lang="en-US"/>
              <a:t> Output of telephone is analog and output of</a:t>
            </a:r>
            <a:br>
              <a:rPr lang="en-US"/>
            </a:br>
            <a:r>
              <a:rPr lang="en-US"/>
              <a:t>   computers is digital</a:t>
            </a:r>
          </a:p>
          <a:p>
            <a:pPr>
              <a:buFontTx/>
              <a:buChar char="•"/>
            </a:pPr>
            <a:r>
              <a:rPr lang="en-US"/>
              <a:t> Modem is used to “modulate” and “demodulate” </a:t>
            </a:r>
            <a:br>
              <a:rPr lang="en-US"/>
            </a:br>
            <a:r>
              <a:rPr lang="en-US"/>
              <a:t>   computer data to analog format and back</a:t>
            </a:r>
          </a:p>
          <a:p>
            <a:pPr>
              <a:buFontTx/>
              <a:buChar char="•"/>
            </a:pPr>
            <a:r>
              <a:rPr lang="en-US"/>
              <a:t> Clear distinction between the two networks is </a:t>
            </a:r>
            <a:br>
              <a:rPr lang="en-US"/>
            </a:br>
            <a:r>
              <a:rPr lang="en-US"/>
              <a:t>   getting fuzzier with modern multimedia networks</a:t>
            </a:r>
          </a:p>
        </p:txBody>
      </p:sp>
      <p:sp>
        <p:nvSpPr>
          <p:cNvPr id="13324" name="Rectangle 12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5851525" y="8469313"/>
            <a:ext cx="4397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3" name="Line 3"/>
          <p:cNvSpPr>
            <a:spLocks noChangeShapeType="1"/>
          </p:cNvSpPr>
          <p:nvPr/>
        </p:nvSpPr>
        <p:spPr bwMode="auto">
          <a:xfrm>
            <a:off x="609600" y="63246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63246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873125" y="533400"/>
            <a:ext cx="44037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IBM SNA Architecture</a:t>
            </a:r>
            <a:endParaRPr lang="en-US" sz="3200"/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15370" name="Object 10"/>
          <p:cNvGraphicFramePr>
            <a:graphicFrameLocks noChangeAspect="1"/>
          </p:cNvGraphicFramePr>
          <p:nvPr/>
        </p:nvGraphicFramePr>
        <p:xfrm>
          <a:off x="1371600" y="1143000"/>
          <a:ext cx="4732338" cy="4876800"/>
        </p:xfrm>
        <a:graphic>
          <a:graphicData uri="http://schemas.openxmlformats.org/presentationml/2006/ole">
            <p:oleObj spid="_x0000_s15370" name="VISIO" r:id="rId4" imgW="6339600" imgH="6485040" progId="Visio.Drawing.4">
              <p:embed/>
            </p:oleObj>
          </a:graphicData>
        </a:graphic>
      </p:graphicFrame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441325" y="6716713"/>
            <a:ext cx="6067425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IBM System Network Architecture (SNA) is a major</a:t>
            </a:r>
            <a:br>
              <a:rPr lang="en-US"/>
            </a:br>
            <a:r>
              <a:rPr lang="en-US"/>
              <a:t>   step in network architecture</a:t>
            </a:r>
          </a:p>
          <a:p>
            <a:pPr>
              <a:buFontTx/>
              <a:buChar char="•"/>
            </a:pPr>
            <a:r>
              <a:rPr lang="en-US"/>
              <a:t> SNA is based on multitude of (dumb) terminals </a:t>
            </a:r>
            <a:br>
              <a:rPr lang="en-US"/>
            </a:br>
            <a:r>
              <a:rPr lang="en-US"/>
              <a:t>   accessing a mainframe host at a remote location</a:t>
            </a:r>
          </a:p>
        </p:txBody>
      </p:sp>
      <p:sp>
        <p:nvSpPr>
          <p:cNvPr id="15372" name="Rectangle 12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15373" name="Line 13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5851525" y="8469313"/>
            <a:ext cx="4397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Line 3"/>
          <p:cNvSpPr>
            <a:spLocks noChangeShapeType="1"/>
          </p:cNvSpPr>
          <p:nvPr/>
        </p:nvSpPr>
        <p:spPr bwMode="auto">
          <a:xfrm>
            <a:off x="609600" y="5257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5257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57912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1616075" y="533400"/>
            <a:ext cx="29146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DCE with LAN</a:t>
            </a:r>
            <a:endParaRPr lang="en-US" sz="3200"/>
          </a:p>
        </p:txBody>
      </p:sp>
      <p:sp>
        <p:nvSpPr>
          <p:cNvPr id="17417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17418" name="Object 10"/>
          <p:cNvGraphicFramePr>
            <a:graphicFrameLocks noChangeAspect="1"/>
          </p:cNvGraphicFramePr>
          <p:nvPr/>
        </p:nvGraphicFramePr>
        <p:xfrm>
          <a:off x="457200" y="1828800"/>
          <a:ext cx="5943600" cy="2633663"/>
        </p:xfrm>
        <a:graphic>
          <a:graphicData uri="http://schemas.openxmlformats.org/presentationml/2006/ole">
            <p:oleObj spid="_x0000_s17418" name="VISIO" r:id="rId4" imgW="6898680" imgH="3056040" progId="Visio.Drawing.4">
              <p:embed/>
            </p:oleObj>
          </a:graphicData>
        </a:graphic>
      </p:graphicFrame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1219200" y="1066800"/>
            <a:ext cx="3987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/>
              <a:t>DCE.. Distributed Computing Environment</a:t>
            </a:r>
            <a:endParaRPr lang="en-US"/>
          </a:p>
        </p:txBody>
      </p: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593725" y="5726113"/>
            <a:ext cx="3675063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Driving technologies for DCE:</a:t>
            </a:r>
          </a:p>
          <a:p>
            <a:pPr lvl="1">
              <a:buFontTx/>
              <a:buChar char="•"/>
            </a:pPr>
            <a:r>
              <a:rPr lang="en-US"/>
              <a:t> Desktop processor</a:t>
            </a:r>
          </a:p>
          <a:p>
            <a:pPr lvl="1">
              <a:buFontTx/>
              <a:buChar char="•"/>
            </a:pPr>
            <a:r>
              <a:rPr lang="en-US"/>
              <a:t> LAN</a:t>
            </a:r>
          </a:p>
          <a:p>
            <a:pPr lvl="1">
              <a:buFontTx/>
              <a:buChar char="•"/>
            </a:pPr>
            <a:r>
              <a:rPr lang="en-US"/>
              <a:t> LAN - WAN network</a:t>
            </a:r>
          </a:p>
        </p:txBody>
      </p:sp>
      <p:sp>
        <p:nvSpPr>
          <p:cNvPr id="17421" name="Rectangle 13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5851525" y="8469313"/>
            <a:ext cx="4397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59" name="Line 3"/>
          <p:cNvSpPr>
            <a:spLocks noChangeShapeType="1"/>
          </p:cNvSpPr>
          <p:nvPr/>
        </p:nvSpPr>
        <p:spPr bwMode="auto">
          <a:xfrm>
            <a:off x="609600" y="5257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5257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57912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1152525" y="533400"/>
            <a:ext cx="38401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LAN-WAN Network</a:t>
            </a:r>
            <a:endParaRPr lang="en-US" sz="3200"/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19466" name="Object 10"/>
          <p:cNvGraphicFramePr>
            <a:graphicFrameLocks noChangeAspect="1"/>
          </p:cNvGraphicFramePr>
          <p:nvPr/>
        </p:nvGraphicFramePr>
        <p:xfrm>
          <a:off x="685800" y="1371600"/>
          <a:ext cx="5486400" cy="3494088"/>
        </p:xfrm>
        <a:graphic>
          <a:graphicData uri="http://schemas.openxmlformats.org/presentationml/2006/ole">
            <p:oleObj spid="_x0000_s19466" name="VISIO" r:id="rId4" imgW="6923160" imgH="4408560" progId="Visio.Drawing.4">
              <p:embed/>
            </p:oleObj>
          </a:graphicData>
        </a:graphic>
      </p:graphicFrame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517525" y="5649913"/>
            <a:ext cx="5508625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Major impacts of DCE:</a:t>
            </a:r>
          </a:p>
          <a:p>
            <a:pPr lvl="1">
              <a:buFontTx/>
              <a:buChar char="•"/>
            </a:pPr>
            <a:r>
              <a:rPr lang="en-US"/>
              <a:t> No more monopolistic service provider</a:t>
            </a:r>
          </a:p>
          <a:p>
            <a:pPr lvl="1">
              <a:buFontTx/>
              <a:buChar char="•"/>
            </a:pPr>
            <a:r>
              <a:rPr lang="en-US"/>
              <a:t> No centralized IT controller</a:t>
            </a:r>
          </a:p>
          <a:p>
            <a:pPr lvl="1">
              <a:buFontTx/>
              <a:buChar char="•"/>
            </a:pPr>
            <a:r>
              <a:rPr lang="en-US"/>
              <a:t> Hosts doing specialized function</a:t>
            </a:r>
          </a:p>
          <a:p>
            <a:pPr lvl="1">
              <a:buFontTx/>
              <a:buChar char="•"/>
            </a:pPr>
            <a:r>
              <a:rPr lang="en-US"/>
              <a:t> Client/Server architecture formed the core</a:t>
            </a:r>
            <a:br>
              <a:rPr lang="en-US"/>
            </a:br>
            <a:r>
              <a:rPr lang="en-US"/>
              <a:t>   of DCE network</a:t>
            </a:r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5851525" y="8469313"/>
            <a:ext cx="4397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7" name="Line 3"/>
          <p:cNvSpPr>
            <a:spLocks noChangeShapeType="1"/>
          </p:cNvSpPr>
          <p:nvPr/>
        </p:nvSpPr>
        <p:spPr bwMode="auto">
          <a:xfrm>
            <a:off x="609600" y="5257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0" y="5257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1085850" y="533400"/>
            <a:ext cx="39735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Client/Server Model</a:t>
            </a:r>
            <a:endParaRPr lang="en-US" sz="3200"/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21514" name="Object 10"/>
          <p:cNvGraphicFramePr>
            <a:graphicFrameLocks noChangeAspect="1"/>
          </p:cNvGraphicFramePr>
          <p:nvPr/>
        </p:nvGraphicFramePr>
        <p:xfrm>
          <a:off x="304800" y="1447800"/>
          <a:ext cx="6213475" cy="3387725"/>
        </p:xfrm>
        <a:graphic>
          <a:graphicData uri="http://schemas.openxmlformats.org/presentationml/2006/ole">
            <p:oleObj spid="_x0000_s21514" name="VISIO" r:id="rId4" imgW="6212880" imgH="3386880" progId="Visio.Drawing.4">
              <p:embed/>
            </p:oleObj>
          </a:graphicData>
        </a:graphic>
      </p:graphicFrame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593725" y="5649913"/>
            <a:ext cx="5913438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Post office analogy; clerk the server, and the </a:t>
            </a:r>
            <a:br>
              <a:rPr lang="en-US"/>
            </a:br>
            <a:r>
              <a:rPr lang="en-US"/>
              <a:t>   customer the client</a:t>
            </a:r>
          </a:p>
          <a:p>
            <a:pPr>
              <a:buFontTx/>
              <a:buChar char="•"/>
            </a:pPr>
            <a:r>
              <a:rPr lang="en-US"/>
              <a:t> Client always initiates requests</a:t>
            </a:r>
          </a:p>
          <a:p>
            <a:pPr>
              <a:buFontTx/>
              <a:buChar char="•"/>
            </a:pPr>
            <a:r>
              <a:rPr lang="en-US"/>
              <a:t> Server always responds</a:t>
            </a:r>
          </a:p>
          <a:p>
            <a:pPr>
              <a:buFontTx/>
              <a:buChar char="•"/>
            </a:pPr>
            <a:r>
              <a:rPr lang="en-US"/>
              <a:t> Notice that control is handed over to the receiving</a:t>
            </a:r>
            <a:br>
              <a:rPr lang="en-US"/>
            </a:br>
            <a:r>
              <a:rPr lang="en-US"/>
              <a:t>   entity.</a:t>
            </a:r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3032125" y="1328738"/>
            <a:ext cx="7493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Request</a:t>
            </a: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2879725" y="3081338"/>
            <a:ext cx="8667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Response</a:t>
            </a:r>
          </a:p>
        </p:txBody>
      </p:sp>
      <p:sp>
        <p:nvSpPr>
          <p:cNvPr id="21518" name="Rectangle 14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Text Box 16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5" name="Line 3"/>
          <p:cNvSpPr>
            <a:spLocks noChangeShapeType="1"/>
          </p:cNvSpPr>
          <p:nvPr/>
        </p:nvSpPr>
        <p:spPr bwMode="auto">
          <a:xfrm>
            <a:off x="609600" y="7162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7162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57150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723900" y="533400"/>
            <a:ext cx="46974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Client/Server Examples</a:t>
            </a:r>
            <a:endParaRPr lang="en-US" sz="3200"/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23562" name="Object 10"/>
          <p:cNvGraphicFramePr>
            <a:graphicFrameLocks noChangeAspect="1"/>
          </p:cNvGraphicFramePr>
          <p:nvPr/>
        </p:nvGraphicFramePr>
        <p:xfrm>
          <a:off x="1066800" y="1371600"/>
          <a:ext cx="4800600" cy="5638800"/>
        </p:xfrm>
        <a:graphic>
          <a:graphicData uri="http://schemas.openxmlformats.org/presentationml/2006/ole">
            <p:oleObj spid="_x0000_s23562" name="VISIO" r:id="rId4" imgW="7465680" imgH="10001520" progId="Visio.Drawing.4">
              <p:embed/>
            </p:oleObj>
          </a:graphicData>
        </a:graphic>
      </p:graphicFrame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23564" name="Line 12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Line 3"/>
          <p:cNvSpPr>
            <a:spLocks noChangeShapeType="1"/>
          </p:cNvSpPr>
          <p:nvPr/>
        </p:nvSpPr>
        <p:spPr bwMode="auto">
          <a:xfrm>
            <a:off x="609600" y="5257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0" y="5257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692150" y="533400"/>
            <a:ext cx="47640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TCP/IP Based Networks</a:t>
            </a:r>
            <a:endParaRPr lang="en-US" sz="3200"/>
          </a:p>
        </p:txBody>
      </p:sp>
      <p:sp>
        <p:nvSpPr>
          <p:cNvPr id="25609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sp>
        <p:nvSpPr>
          <p:cNvPr id="25610" name="Text Box 10"/>
          <p:cNvSpPr txBox="1">
            <a:spLocks noChangeArrowheads="1"/>
          </p:cNvSpPr>
          <p:nvPr/>
        </p:nvSpPr>
        <p:spPr bwMode="auto">
          <a:xfrm>
            <a:off x="669925" y="1382713"/>
            <a:ext cx="5614988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TCP/IP is a suite of protocols</a:t>
            </a:r>
          </a:p>
          <a:p>
            <a:pPr>
              <a:buFontTx/>
              <a:buChar char="•"/>
            </a:pPr>
            <a:r>
              <a:rPr lang="en-US"/>
              <a:t> Internet is based on TCP/IP</a:t>
            </a:r>
          </a:p>
          <a:p>
            <a:pPr>
              <a:buFontTx/>
              <a:buChar char="•"/>
            </a:pPr>
            <a:r>
              <a:rPr lang="en-US"/>
              <a:t> IP is Internet protocol at the network layer level</a:t>
            </a:r>
          </a:p>
          <a:p>
            <a:pPr>
              <a:buFontTx/>
              <a:buChar char="•"/>
            </a:pPr>
            <a:r>
              <a:rPr lang="en-US"/>
              <a:t> TCP is connection-oriented transport protocol</a:t>
            </a:r>
            <a:br>
              <a:rPr lang="en-US"/>
            </a:br>
            <a:r>
              <a:rPr lang="en-US"/>
              <a:t>   and ensures end-to-end connection</a:t>
            </a:r>
          </a:p>
          <a:p>
            <a:pPr>
              <a:buFontTx/>
              <a:buChar char="•"/>
            </a:pPr>
            <a:r>
              <a:rPr lang="en-US"/>
              <a:t> UDP is connectionless transport protocol and </a:t>
            </a:r>
            <a:br>
              <a:rPr lang="en-US"/>
            </a:br>
            <a:r>
              <a:rPr lang="en-US"/>
              <a:t>   provides datagram service</a:t>
            </a:r>
          </a:p>
          <a:p>
            <a:pPr>
              <a:buFontTx/>
              <a:buChar char="•"/>
            </a:pPr>
            <a:r>
              <a:rPr lang="en-US"/>
              <a:t> Internet e-mail and much of the network mgmt.</a:t>
            </a:r>
            <a:br>
              <a:rPr lang="en-US"/>
            </a:br>
            <a:r>
              <a:rPr lang="en-US"/>
              <a:t>  messages are based on UDP/IP</a:t>
            </a:r>
          </a:p>
          <a:p>
            <a:pPr>
              <a:buFontTx/>
              <a:buChar char="•"/>
            </a:pPr>
            <a:r>
              <a:rPr lang="en-US"/>
              <a:t> ICMP part of TCP/IP suite</a:t>
            </a:r>
          </a:p>
        </p:txBody>
      </p: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51" name="Line 3"/>
          <p:cNvSpPr>
            <a:spLocks noChangeShapeType="1"/>
          </p:cNvSpPr>
          <p:nvPr/>
        </p:nvSpPr>
        <p:spPr bwMode="auto">
          <a:xfrm>
            <a:off x="609600" y="69342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0" y="69342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56388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850900" y="533400"/>
            <a:ext cx="44434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Internet Configuration</a:t>
            </a:r>
            <a:endParaRPr lang="en-US" sz="3200"/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27658" name="Object 10"/>
          <p:cNvGraphicFramePr>
            <a:graphicFrameLocks noChangeAspect="1"/>
          </p:cNvGraphicFramePr>
          <p:nvPr/>
        </p:nvGraphicFramePr>
        <p:xfrm>
          <a:off x="1447800" y="1371600"/>
          <a:ext cx="3405188" cy="5410200"/>
        </p:xfrm>
        <a:graphic>
          <a:graphicData uri="http://schemas.openxmlformats.org/presentationml/2006/ole">
            <p:oleObj spid="_x0000_s27658" name="VISIO" r:id="rId4" imgW="7151760" imgH="11366280" progId="Visio.Drawing.4">
              <p:embed/>
            </p:oleObj>
          </a:graphicData>
        </a:graphic>
      </p:graphicFrame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304800" y="7315200"/>
            <a:ext cx="6292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Walk through the scenario of e-mail from Joe to Sally</a:t>
            </a:r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62" name="Text Box 14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699" name="Line 3"/>
          <p:cNvSpPr>
            <a:spLocks noChangeShapeType="1"/>
          </p:cNvSpPr>
          <p:nvPr/>
        </p:nvSpPr>
        <p:spPr bwMode="auto">
          <a:xfrm>
            <a:off x="609600" y="5257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5257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56388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533400" y="609600"/>
            <a:ext cx="5754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b="1"/>
              <a:t>Architecture, Protocols and Standards</a:t>
            </a:r>
            <a:endParaRPr lang="en-US" sz="3200"/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441325" y="1306513"/>
            <a:ext cx="6259513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Communication architecture</a:t>
            </a:r>
          </a:p>
          <a:p>
            <a:pPr lvl="1">
              <a:buFontTx/>
              <a:buChar char="•"/>
            </a:pPr>
            <a:r>
              <a:rPr lang="en-US"/>
              <a:t> Modeling of communication systems, comprising</a:t>
            </a:r>
          </a:p>
          <a:p>
            <a:pPr lvl="2">
              <a:buFontTx/>
              <a:buChar char="•"/>
            </a:pPr>
            <a:r>
              <a:rPr lang="en-US"/>
              <a:t> functional components and</a:t>
            </a:r>
          </a:p>
          <a:p>
            <a:pPr lvl="2">
              <a:buFontTx/>
              <a:buChar char="•"/>
            </a:pPr>
            <a:r>
              <a:rPr lang="en-US"/>
              <a:t> operations interfaces between them</a:t>
            </a:r>
          </a:p>
          <a:p>
            <a:pPr>
              <a:buFontTx/>
              <a:buChar char="•"/>
            </a:pPr>
            <a:r>
              <a:rPr lang="en-US"/>
              <a:t> Communication protocols</a:t>
            </a:r>
          </a:p>
          <a:p>
            <a:pPr lvl="1">
              <a:buFontTx/>
              <a:buChar char="•"/>
            </a:pPr>
            <a:r>
              <a:rPr lang="en-US"/>
              <a:t> Operational procedures</a:t>
            </a:r>
          </a:p>
          <a:p>
            <a:pPr lvl="2">
              <a:buFontTx/>
              <a:buChar char="•"/>
            </a:pPr>
            <a:r>
              <a:rPr lang="en-US"/>
              <a:t> intra- and inter-modules</a:t>
            </a:r>
          </a:p>
          <a:p>
            <a:pPr>
              <a:buFontTx/>
              <a:buChar char="•"/>
            </a:pPr>
            <a:r>
              <a:rPr lang="en-US"/>
              <a:t> Communication standards</a:t>
            </a:r>
          </a:p>
          <a:p>
            <a:pPr lvl="1">
              <a:buFontTx/>
              <a:buChar char="•"/>
            </a:pPr>
            <a:r>
              <a:rPr lang="en-US"/>
              <a:t> Agreement between manufacturers on protocols</a:t>
            </a:r>
            <a:br>
              <a:rPr lang="en-US"/>
            </a:br>
            <a:r>
              <a:rPr lang="en-US"/>
              <a:t>   of communication equipment on</a:t>
            </a:r>
          </a:p>
          <a:p>
            <a:pPr lvl="2">
              <a:buFontTx/>
              <a:buChar char="•"/>
            </a:pPr>
            <a:r>
              <a:rPr lang="en-US"/>
              <a:t> physical characteristics and </a:t>
            </a:r>
          </a:p>
          <a:p>
            <a:pPr lvl="2">
              <a:buFontTx/>
              <a:buChar char="•"/>
            </a:pPr>
            <a:r>
              <a:rPr lang="en-US"/>
              <a:t> operational procedures </a:t>
            </a:r>
          </a:p>
        </p:txBody>
      </p:sp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441325" y="5802313"/>
            <a:ext cx="399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Examples:  (Students to call out)</a:t>
            </a:r>
          </a:p>
        </p:txBody>
      </p:sp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29709" name="Line 13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47" name="Line 3"/>
          <p:cNvSpPr>
            <a:spLocks noChangeShapeType="1"/>
          </p:cNvSpPr>
          <p:nvPr/>
        </p:nvSpPr>
        <p:spPr bwMode="auto">
          <a:xfrm>
            <a:off x="609600" y="5867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0" y="58674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56388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609600" y="533400"/>
            <a:ext cx="57546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Communication Architecture</a:t>
            </a:r>
            <a:endParaRPr lang="en-US" sz="3200"/>
          </a:p>
        </p:txBody>
      </p:sp>
      <p:sp>
        <p:nvSpPr>
          <p:cNvPr id="31753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31754" name="Object 10"/>
          <p:cNvGraphicFramePr>
            <a:graphicFrameLocks noChangeAspect="1"/>
          </p:cNvGraphicFramePr>
          <p:nvPr/>
        </p:nvGraphicFramePr>
        <p:xfrm>
          <a:off x="990600" y="1143000"/>
          <a:ext cx="4876800" cy="4779963"/>
        </p:xfrm>
        <a:graphic>
          <a:graphicData uri="http://schemas.openxmlformats.org/presentationml/2006/ole">
            <p:oleObj spid="_x0000_s31754" name="VISIO" r:id="rId4" imgW="6923160" imgH="6787080" progId="Visio.Drawing.4">
              <p:embed/>
            </p:oleObj>
          </a:graphicData>
        </a:graphic>
      </p:graphicFrame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609600" y="6248400"/>
            <a:ext cx="5526088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Inter-layer interface: user and service provider</a:t>
            </a:r>
          </a:p>
          <a:p>
            <a:pPr>
              <a:buFontTx/>
              <a:buChar char="•"/>
            </a:pPr>
            <a:r>
              <a:rPr lang="en-US"/>
              <a:t> Peer-layer protocol interface </a:t>
            </a:r>
          </a:p>
          <a:p>
            <a:pPr>
              <a:buFontTx/>
              <a:buChar char="•"/>
            </a:pPr>
            <a:r>
              <a:rPr lang="en-US"/>
              <a:t> Analogy of hearing-impaired student</a:t>
            </a:r>
          </a:p>
          <a:p>
            <a:pPr>
              <a:buFontTx/>
              <a:buChar char="•"/>
            </a:pPr>
            <a:r>
              <a:rPr lang="en-US"/>
              <a:t> Role of intermediate systems</a:t>
            </a:r>
          </a:p>
          <a:p>
            <a:pPr>
              <a:buFontTx/>
              <a:buChar char="•"/>
            </a:pPr>
            <a:r>
              <a:rPr lang="en-US"/>
              <a:t> Gateway: Router with protocol conversion as</a:t>
            </a:r>
            <a:br>
              <a:rPr lang="en-US"/>
            </a:br>
            <a:r>
              <a:rPr lang="en-US"/>
              <a:t>   gateway to an autonomous network or subnet</a:t>
            </a:r>
          </a:p>
        </p:txBody>
      </p:sp>
      <p:sp>
        <p:nvSpPr>
          <p:cNvPr id="31756" name="Rectangle 12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31757" name="Line 13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795" name="Line 3"/>
          <p:cNvSpPr>
            <a:spLocks noChangeShapeType="1"/>
          </p:cNvSpPr>
          <p:nvPr/>
        </p:nvSpPr>
        <p:spPr bwMode="auto">
          <a:xfrm>
            <a:off x="609600" y="67056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67056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55626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950913" y="533400"/>
            <a:ext cx="42433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OSI Reference Model</a:t>
            </a:r>
            <a:endParaRPr lang="en-US" sz="3200"/>
          </a:p>
        </p:txBody>
      </p:sp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33803" name="Object 11"/>
          <p:cNvGraphicFramePr>
            <a:graphicFrameLocks noChangeAspect="1"/>
          </p:cNvGraphicFramePr>
          <p:nvPr/>
        </p:nvGraphicFramePr>
        <p:xfrm>
          <a:off x="914400" y="1143000"/>
          <a:ext cx="4672013" cy="5703888"/>
        </p:xfrm>
        <a:graphic>
          <a:graphicData uri="http://schemas.openxmlformats.org/presentationml/2006/ole">
            <p:oleObj spid="_x0000_s33803" name="VISIO" r:id="rId4" imgW="5100480" imgH="6225120" progId="Visio.Drawing.4">
              <p:embed/>
            </p:oleObj>
          </a:graphicData>
        </a:graphic>
      </p:graphicFrame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533400" y="7086600"/>
            <a:ext cx="55578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Importance of the knowledge of layer structure</a:t>
            </a:r>
            <a:br>
              <a:rPr lang="en-US"/>
            </a:br>
            <a:r>
              <a:rPr lang="en-US"/>
              <a:t>  in NM</a:t>
            </a:r>
          </a:p>
        </p:txBody>
      </p:sp>
      <p:sp>
        <p:nvSpPr>
          <p:cNvPr id="33805" name="Rectangle 13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33806" name="Line 14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7" name="Text Box 15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3" name="Line 3"/>
          <p:cNvSpPr>
            <a:spLocks noChangeShapeType="1"/>
          </p:cNvSpPr>
          <p:nvPr/>
        </p:nvSpPr>
        <p:spPr bwMode="auto">
          <a:xfrm>
            <a:off x="609600" y="7162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7162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56388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35848" name="Text Box 8"/>
          <p:cNvSpPr txBox="1">
            <a:spLocks noChangeArrowheads="1"/>
          </p:cNvSpPr>
          <p:nvPr/>
        </p:nvSpPr>
        <p:spPr bwMode="auto">
          <a:xfrm>
            <a:off x="838200" y="533400"/>
            <a:ext cx="49212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OSI Layers and Services</a:t>
            </a:r>
            <a:endParaRPr lang="en-US" sz="3200"/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35850" name="Object 10"/>
          <p:cNvGraphicFramePr>
            <a:graphicFrameLocks noChangeAspect="1"/>
          </p:cNvGraphicFramePr>
          <p:nvPr/>
        </p:nvGraphicFramePr>
        <p:xfrm>
          <a:off x="533400" y="1143000"/>
          <a:ext cx="5637213" cy="6115050"/>
        </p:xfrm>
        <a:graphic>
          <a:graphicData uri="http://schemas.openxmlformats.org/presentationml/2006/ole">
            <p:oleObj spid="_x0000_s35850" name="Document" r:id="rId4" imgW="5635800" imgH="6114240" progId="Word.Document.8">
              <p:embed/>
            </p:oleObj>
          </a:graphicData>
        </a:graphic>
      </p:graphicFrame>
      <p:sp>
        <p:nvSpPr>
          <p:cNvPr id="35851" name="Text Box 11"/>
          <p:cNvSpPr txBox="1">
            <a:spLocks noChangeArrowheads="1"/>
          </p:cNvSpPr>
          <p:nvPr/>
        </p:nvSpPr>
        <p:spPr bwMode="auto">
          <a:xfrm>
            <a:off x="441325" y="7478713"/>
            <a:ext cx="61896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Importance of services offered by different layers</a:t>
            </a:r>
            <a:br>
              <a:rPr lang="en-US"/>
            </a:br>
            <a:r>
              <a:rPr lang="en-US"/>
              <a:t>  and the protocol conversion at different layers in NM</a:t>
            </a:r>
          </a:p>
        </p:txBody>
      </p:sp>
      <p:sp>
        <p:nvSpPr>
          <p:cNvPr id="35852" name="Rectangle 12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35853" name="Line 13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4" name="Text Box 14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1" name="Line 3"/>
          <p:cNvSpPr>
            <a:spLocks noChangeShapeType="1"/>
          </p:cNvSpPr>
          <p:nvPr/>
        </p:nvSpPr>
        <p:spPr bwMode="auto">
          <a:xfrm>
            <a:off x="609600" y="5257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5257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57912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37896" name="Text Box 8"/>
          <p:cNvSpPr txBox="1">
            <a:spLocks noChangeArrowheads="1"/>
          </p:cNvSpPr>
          <p:nvPr/>
        </p:nvSpPr>
        <p:spPr bwMode="auto">
          <a:xfrm>
            <a:off x="533400" y="533400"/>
            <a:ext cx="55070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PDU Communication Model</a:t>
            </a:r>
            <a:endParaRPr lang="en-US" sz="3200"/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37898" name="Object 10"/>
          <p:cNvGraphicFramePr>
            <a:graphicFrameLocks noChangeAspect="1"/>
          </p:cNvGraphicFramePr>
          <p:nvPr/>
        </p:nvGraphicFramePr>
        <p:xfrm>
          <a:off x="457200" y="1295400"/>
          <a:ext cx="5943600" cy="3498850"/>
        </p:xfrm>
        <a:graphic>
          <a:graphicData uri="http://schemas.openxmlformats.org/presentationml/2006/ole">
            <p:oleObj spid="_x0000_s37898" name="VISIO" r:id="rId4" imgW="8294760" imgH="4880160" progId="Visio.Drawing.4">
              <p:embed/>
            </p:oleObj>
          </a:graphicData>
        </a:graphic>
      </p:graphicFrame>
      <p:sp>
        <p:nvSpPr>
          <p:cNvPr id="37899" name="Text Box 11"/>
          <p:cNvSpPr txBox="1">
            <a:spLocks noChangeArrowheads="1"/>
          </p:cNvSpPr>
          <p:nvPr/>
        </p:nvSpPr>
        <p:spPr bwMode="auto">
          <a:xfrm>
            <a:off x="593725" y="5726113"/>
            <a:ext cx="53784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What is the relevance of PDU model in NM? </a:t>
            </a:r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37901" name="Line 13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2" name="Text Box 14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39" name="Line 3"/>
          <p:cNvSpPr>
            <a:spLocks noChangeShapeType="1"/>
          </p:cNvSpPr>
          <p:nvPr/>
        </p:nvSpPr>
        <p:spPr bwMode="auto">
          <a:xfrm>
            <a:off x="609600" y="6858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0" y="68580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2141538" y="533400"/>
            <a:ext cx="18526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Gateway</a:t>
            </a:r>
            <a:endParaRPr lang="en-US" sz="3200"/>
          </a:p>
        </p:txBody>
      </p:sp>
      <p:sp>
        <p:nvSpPr>
          <p:cNvPr id="39945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39946" name="Object 10"/>
          <p:cNvGraphicFramePr>
            <a:graphicFrameLocks noChangeAspect="1"/>
          </p:cNvGraphicFramePr>
          <p:nvPr/>
        </p:nvGraphicFramePr>
        <p:xfrm>
          <a:off x="685800" y="1219200"/>
          <a:ext cx="5310188" cy="5562600"/>
        </p:xfrm>
        <a:graphic>
          <a:graphicData uri="http://schemas.openxmlformats.org/presentationml/2006/ole">
            <p:oleObj spid="_x0000_s39946" name="VISIO" r:id="rId4" imgW="6923160" imgH="7254000" progId="Visio.Drawing.4">
              <p:embed/>
            </p:oleObj>
          </a:graphicData>
        </a:graphic>
      </p:graphicFrame>
      <p:sp>
        <p:nvSpPr>
          <p:cNvPr id="39947" name="Text Box 11"/>
          <p:cNvSpPr txBox="1">
            <a:spLocks noChangeArrowheads="1"/>
          </p:cNvSpPr>
          <p:nvPr/>
        </p:nvSpPr>
        <p:spPr bwMode="auto">
          <a:xfrm>
            <a:off x="517525" y="7326313"/>
            <a:ext cx="544671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cc:mail from a station in Novel IPX network to</a:t>
            </a:r>
            <a:br>
              <a:rPr lang="en-US"/>
            </a:br>
            <a:r>
              <a:rPr lang="en-US"/>
              <a:t>  an Internet station with SMTP e-mail</a:t>
            </a:r>
          </a:p>
        </p:txBody>
      </p:sp>
      <p:sp>
        <p:nvSpPr>
          <p:cNvPr id="39948" name="Rectangle 12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39949" name="Line 13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50" name="Text Box 14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87" name="Line 3"/>
          <p:cNvSpPr>
            <a:spLocks noChangeShapeType="1"/>
          </p:cNvSpPr>
          <p:nvPr/>
        </p:nvSpPr>
        <p:spPr bwMode="auto">
          <a:xfrm>
            <a:off x="609600" y="5638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5638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57912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41992" name="Text Box 8"/>
          <p:cNvSpPr txBox="1">
            <a:spLocks noChangeArrowheads="1"/>
          </p:cNvSpPr>
          <p:nvPr/>
        </p:nvSpPr>
        <p:spPr bwMode="auto">
          <a:xfrm>
            <a:off x="990600" y="533400"/>
            <a:ext cx="45148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SNA, OSI, and Internet</a:t>
            </a:r>
            <a:endParaRPr lang="en-US" sz="3200"/>
          </a:p>
        </p:txBody>
      </p:sp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41994" name="Object 10"/>
          <p:cNvGraphicFramePr>
            <a:graphicFrameLocks noChangeAspect="1"/>
          </p:cNvGraphicFramePr>
          <p:nvPr/>
        </p:nvGraphicFramePr>
        <p:xfrm>
          <a:off x="533400" y="1143000"/>
          <a:ext cx="5791200" cy="4519613"/>
        </p:xfrm>
        <a:graphic>
          <a:graphicData uri="http://schemas.openxmlformats.org/presentationml/2006/ole">
            <p:oleObj spid="_x0000_s41994" name="VISIO" r:id="rId4" imgW="7494480" imgH="5849640" progId="Visio.Drawing.4">
              <p:embed/>
            </p:oleObj>
          </a:graphicData>
        </a:graphic>
      </p:graphicFrame>
      <p:sp>
        <p:nvSpPr>
          <p:cNvPr id="41995" name="Text Box 11"/>
          <p:cNvSpPr txBox="1">
            <a:spLocks noChangeArrowheads="1"/>
          </p:cNvSpPr>
          <p:nvPr/>
        </p:nvSpPr>
        <p:spPr bwMode="auto">
          <a:xfrm>
            <a:off x="533400" y="6019800"/>
            <a:ext cx="59563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Similarity between SNA and OSI</a:t>
            </a:r>
          </a:p>
          <a:p>
            <a:pPr>
              <a:buFontTx/>
              <a:buChar char="•"/>
            </a:pPr>
            <a:r>
              <a:rPr lang="en-US"/>
              <a:t> Simplicity of Internet; specifies only layers 3 and 4</a:t>
            </a:r>
          </a:p>
          <a:p>
            <a:pPr>
              <a:buFontTx/>
              <a:buChar char="•"/>
            </a:pPr>
            <a:r>
              <a:rPr lang="en-US"/>
              <a:t> Integrated application layers over Internet</a:t>
            </a:r>
          </a:p>
          <a:p>
            <a:pPr>
              <a:buFontTx/>
              <a:buChar char="•"/>
            </a:pPr>
            <a:r>
              <a:rPr lang="en-US"/>
              <a:t> Commonality of layers 1 and 2 - IEEE standard</a:t>
            </a:r>
          </a:p>
        </p:txBody>
      </p:sp>
      <p:sp>
        <p:nvSpPr>
          <p:cNvPr id="41996" name="Rectangle 12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41997" name="Line 13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35" name="Line 3"/>
          <p:cNvSpPr>
            <a:spLocks noChangeShapeType="1"/>
          </p:cNvSpPr>
          <p:nvPr/>
        </p:nvSpPr>
        <p:spPr bwMode="auto">
          <a:xfrm>
            <a:off x="609600" y="42672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0" y="42672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44039" name="Rectangle 7"/>
          <p:cNvSpPr>
            <a:spLocks noChangeArrowheads="1"/>
          </p:cNvSpPr>
          <p:nvPr/>
        </p:nvSpPr>
        <p:spPr bwMode="auto">
          <a:xfrm>
            <a:off x="57912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44040" name="Text Box 8"/>
          <p:cNvSpPr txBox="1">
            <a:spLocks noChangeArrowheads="1"/>
          </p:cNvSpPr>
          <p:nvPr/>
        </p:nvSpPr>
        <p:spPr bwMode="auto">
          <a:xfrm>
            <a:off x="1066800" y="533400"/>
            <a:ext cx="43767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Application Protocols</a:t>
            </a:r>
            <a:endParaRPr lang="en-US" sz="3200"/>
          </a:p>
        </p:txBody>
      </p:sp>
      <p:sp>
        <p:nvSpPr>
          <p:cNvPr id="44041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44042" name="Object 10"/>
          <p:cNvGraphicFramePr>
            <a:graphicFrameLocks noChangeAspect="1"/>
          </p:cNvGraphicFramePr>
          <p:nvPr/>
        </p:nvGraphicFramePr>
        <p:xfrm>
          <a:off x="457200" y="1371600"/>
          <a:ext cx="6096000" cy="2976563"/>
        </p:xfrm>
        <a:graphic>
          <a:graphicData uri="http://schemas.openxmlformats.org/presentationml/2006/ole">
            <p:oleObj spid="_x0000_s44042" name="VISIO" r:id="rId4" imgW="9470520" imgH="4624920" progId="Visio.Drawing.4">
              <p:embed/>
            </p:oleObj>
          </a:graphicData>
        </a:graphic>
      </p:graphicFrame>
      <p:sp>
        <p:nvSpPr>
          <p:cNvPr id="44043" name="Text Box 11"/>
          <p:cNvSpPr txBox="1">
            <a:spLocks noChangeArrowheads="1"/>
          </p:cNvSpPr>
          <p:nvPr/>
        </p:nvSpPr>
        <p:spPr bwMode="auto">
          <a:xfrm>
            <a:off x="365125" y="4887913"/>
            <a:ext cx="6184900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   </a:t>
            </a:r>
            <a:r>
              <a:rPr lang="en-US" b="1"/>
              <a:t>Internet user		   OSI user</a:t>
            </a:r>
            <a:endParaRPr lang="en-US"/>
          </a:p>
          <a:p>
            <a:r>
              <a:rPr lang="en-US"/>
              <a:t>Telnet			Virtual Terminal</a:t>
            </a:r>
          </a:p>
          <a:p>
            <a:endParaRPr lang="en-US"/>
          </a:p>
          <a:p>
            <a:r>
              <a:rPr lang="en-US"/>
              <a:t>File Transfer</a:t>
            </a:r>
            <a:r>
              <a:rPr lang="en-US" b="1"/>
              <a:t> </a:t>
            </a:r>
            <a:r>
              <a:rPr lang="en-US"/>
              <a:t>Protocol	File Transfer Access &amp; Mgmt</a:t>
            </a:r>
          </a:p>
          <a:p>
            <a:endParaRPr lang="en-US"/>
          </a:p>
          <a:p>
            <a:r>
              <a:rPr lang="en-US"/>
              <a:t>Simple Mail Transfer	Message-oriented Text</a:t>
            </a:r>
            <a:br>
              <a:rPr lang="en-US"/>
            </a:br>
            <a:r>
              <a:rPr lang="en-US"/>
              <a:t>    Protocol 		   Interchange Standard</a:t>
            </a:r>
          </a:p>
          <a:p>
            <a:endParaRPr lang="en-US"/>
          </a:p>
          <a:p>
            <a:r>
              <a:rPr lang="en-US"/>
              <a:t>Simple Network		Common Management</a:t>
            </a:r>
            <a:br>
              <a:rPr lang="en-US"/>
            </a:br>
            <a:r>
              <a:rPr lang="en-US"/>
              <a:t>   Management Protocol   Information Protocol</a:t>
            </a:r>
          </a:p>
        </p:txBody>
      </p:sp>
      <p:sp>
        <p:nvSpPr>
          <p:cNvPr id="44044" name="Rectangle 12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44045" name="Line 13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46" name="Text Box 14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083" name="Line 3"/>
          <p:cNvSpPr>
            <a:spLocks noChangeShapeType="1"/>
          </p:cNvSpPr>
          <p:nvPr/>
        </p:nvSpPr>
        <p:spPr bwMode="auto">
          <a:xfrm>
            <a:off x="609600" y="6858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0" y="68580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46087" name="Rectangle 7"/>
          <p:cNvSpPr>
            <a:spLocks noChangeArrowheads="1"/>
          </p:cNvSpPr>
          <p:nvPr/>
        </p:nvSpPr>
        <p:spPr bwMode="auto">
          <a:xfrm>
            <a:off x="57912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1196975" y="533400"/>
            <a:ext cx="37480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NM Case Histories</a:t>
            </a:r>
            <a:endParaRPr lang="en-US" sz="3200"/>
          </a:p>
        </p:txBody>
      </p:sp>
      <p:sp>
        <p:nvSpPr>
          <p:cNvPr id="46089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sp>
        <p:nvSpPr>
          <p:cNvPr id="46090" name="Text Box 10"/>
          <p:cNvSpPr txBox="1">
            <a:spLocks noChangeArrowheads="1"/>
          </p:cNvSpPr>
          <p:nvPr/>
        </p:nvSpPr>
        <p:spPr bwMode="auto">
          <a:xfrm>
            <a:off x="685800" y="1371600"/>
            <a:ext cx="34464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The case of the Footprint</a:t>
            </a:r>
          </a:p>
          <a:p>
            <a:pPr>
              <a:buFontTx/>
              <a:buChar char="•"/>
            </a:pPr>
            <a:r>
              <a:rPr lang="en-US"/>
              <a:t> Case of the crashing bridge</a:t>
            </a:r>
          </a:p>
        </p:txBody>
      </p:sp>
      <p:graphicFrame>
        <p:nvGraphicFramePr>
          <p:cNvPr id="46091" name="Object 11"/>
          <p:cNvGraphicFramePr>
            <a:graphicFrameLocks noChangeAspect="1"/>
          </p:cNvGraphicFramePr>
          <p:nvPr/>
        </p:nvGraphicFramePr>
        <p:xfrm>
          <a:off x="533400" y="2452688"/>
          <a:ext cx="5791200" cy="4238625"/>
        </p:xfrm>
        <a:graphic>
          <a:graphicData uri="http://schemas.openxmlformats.org/presentationml/2006/ole">
            <p:oleObj spid="_x0000_s46091" name="VISIO" r:id="rId4" imgW="9617040" imgH="7037280" progId="Visio.Drawing.4">
              <p:embed/>
            </p:oleObj>
          </a:graphicData>
        </a:graphic>
      </p:graphicFrame>
      <p:sp>
        <p:nvSpPr>
          <p:cNvPr id="46092" name="Rectangle 12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46093" name="Line 13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094" name="Text Box 14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31" name="Line 3"/>
          <p:cNvSpPr>
            <a:spLocks noChangeShapeType="1"/>
          </p:cNvSpPr>
          <p:nvPr/>
        </p:nvSpPr>
        <p:spPr bwMode="auto">
          <a:xfrm>
            <a:off x="609600" y="5257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0" y="5257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48135" name="Rectangle 7"/>
          <p:cNvSpPr>
            <a:spLocks noChangeArrowheads="1"/>
          </p:cNvSpPr>
          <p:nvPr/>
        </p:nvSpPr>
        <p:spPr bwMode="auto">
          <a:xfrm>
            <a:off x="57912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48136" name="Text Box 8"/>
          <p:cNvSpPr txBox="1">
            <a:spLocks noChangeArrowheads="1"/>
          </p:cNvSpPr>
          <p:nvPr/>
        </p:nvSpPr>
        <p:spPr bwMode="auto">
          <a:xfrm>
            <a:off x="533400" y="533400"/>
            <a:ext cx="56229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Common Network Problems</a:t>
            </a:r>
            <a:endParaRPr lang="en-US" sz="3200"/>
          </a:p>
        </p:txBody>
      </p:sp>
      <p:sp>
        <p:nvSpPr>
          <p:cNvPr id="48137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sp>
        <p:nvSpPr>
          <p:cNvPr id="48138" name="Text Box 10"/>
          <p:cNvSpPr txBox="1">
            <a:spLocks noChangeArrowheads="1"/>
          </p:cNvSpPr>
          <p:nvPr/>
        </p:nvSpPr>
        <p:spPr bwMode="auto">
          <a:xfrm>
            <a:off x="838200" y="1373188"/>
            <a:ext cx="3589338" cy="247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FontTx/>
              <a:buChar char="•"/>
            </a:pPr>
            <a:r>
              <a:rPr lang="en-US"/>
              <a:t> Loss of connectivity</a:t>
            </a:r>
          </a:p>
          <a:p>
            <a:pPr>
              <a:lnSpc>
                <a:spcPct val="130000"/>
              </a:lnSpc>
              <a:buFontTx/>
              <a:buChar char="•"/>
            </a:pPr>
            <a:r>
              <a:rPr lang="en-US"/>
              <a:t> Duplicate IP address</a:t>
            </a:r>
          </a:p>
          <a:p>
            <a:pPr>
              <a:lnSpc>
                <a:spcPct val="130000"/>
              </a:lnSpc>
              <a:buFontTx/>
              <a:buChar char="•"/>
            </a:pPr>
            <a:r>
              <a:rPr lang="en-US"/>
              <a:t> Intermittent problems</a:t>
            </a:r>
          </a:p>
          <a:p>
            <a:pPr>
              <a:lnSpc>
                <a:spcPct val="130000"/>
              </a:lnSpc>
              <a:buFontTx/>
              <a:buChar char="•"/>
            </a:pPr>
            <a:r>
              <a:rPr lang="en-US"/>
              <a:t> Network configuration issues</a:t>
            </a:r>
          </a:p>
          <a:p>
            <a:pPr>
              <a:lnSpc>
                <a:spcPct val="130000"/>
              </a:lnSpc>
              <a:buFontTx/>
              <a:buChar char="•"/>
            </a:pPr>
            <a:r>
              <a:rPr lang="en-US"/>
              <a:t> Non-problems</a:t>
            </a:r>
          </a:p>
          <a:p>
            <a:pPr>
              <a:lnSpc>
                <a:spcPct val="130000"/>
              </a:lnSpc>
              <a:buFontTx/>
              <a:buChar char="•"/>
            </a:pPr>
            <a:r>
              <a:rPr lang="en-US"/>
              <a:t> Performance problems</a:t>
            </a:r>
          </a:p>
        </p:txBody>
      </p:sp>
      <p:sp>
        <p:nvSpPr>
          <p:cNvPr id="48139" name="Rectangle 11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48140" name="Line 12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41" name="Text Box 13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79" name="Line 3"/>
          <p:cNvSpPr>
            <a:spLocks noChangeShapeType="1"/>
          </p:cNvSpPr>
          <p:nvPr/>
        </p:nvSpPr>
        <p:spPr bwMode="auto">
          <a:xfrm>
            <a:off x="609600" y="5257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0" y="5257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50183" name="Rectangle 7"/>
          <p:cNvSpPr>
            <a:spLocks noChangeArrowheads="1"/>
          </p:cNvSpPr>
          <p:nvPr/>
        </p:nvSpPr>
        <p:spPr bwMode="auto">
          <a:xfrm>
            <a:off x="57912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50184" name="Text Box 8"/>
          <p:cNvSpPr txBox="1">
            <a:spLocks noChangeArrowheads="1"/>
          </p:cNvSpPr>
          <p:nvPr/>
        </p:nvSpPr>
        <p:spPr bwMode="auto">
          <a:xfrm>
            <a:off x="838200" y="533400"/>
            <a:ext cx="53228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Challenges of IT Managers</a:t>
            </a:r>
            <a:endParaRPr lang="en-US" sz="3200"/>
          </a:p>
        </p:txBody>
      </p:sp>
      <p:sp>
        <p:nvSpPr>
          <p:cNvPr id="50185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sp>
        <p:nvSpPr>
          <p:cNvPr id="50186" name="Text Box 10"/>
          <p:cNvSpPr txBox="1">
            <a:spLocks noChangeArrowheads="1"/>
          </p:cNvSpPr>
          <p:nvPr/>
        </p:nvSpPr>
        <p:spPr bwMode="auto">
          <a:xfrm>
            <a:off x="533400" y="1219200"/>
            <a:ext cx="5111750" cy="337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buFontTx/>
              <a:buChar char="•"/>
            </a:pPr>
            <a:r>
              <a:rPr lang="en-US"/>
              <a:t> Reliability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/>
              <a:t> Non-real time problems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/>
              <a:t> Rapid technological advance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/>
              <a:t> Managing client/server environment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/>
              <a:t> Scalability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/>
              <a:t> Troubleshooting tools and systems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/>
              <a:t> Trouble prediction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/>
              <a:t> Standardization of operations - NMS helps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/>
              <a:t> Centralized management vs “sneaker-net”</a:t>
            </a:r>
          </a:p>
        </p:txBody>
      </p:sp>
      <p:sp>
        <p:nvSpPr>
          <p:cNvPr id="50187" name="Rectangle 11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50188" name="Line 12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89" name="Text Box 13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" name="Line 3"/>
          <p:cNvSpPr>
            <a:spLocks noChangeShapeType="1"/>
          </p:cNvSpPr>
          <p:nvPr/>
        </p:nvSpPr>
        <p:spPr bwMode="auto">
          <a:xfrm>
            <a:off x="609600" y="5638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0" y="5638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52231" name="Rectangle 7"/>
          <p:cNvSpPr>
            <a:spLocks noChangeArrowheads="1"/>
          </p:cNvSpPr>
          <p:nvPr/>
        </p:nvSpPr>
        <p:spPr bwMode="auto">
          <a:xfrm>
            <a:off x="5791200" y="8382000"/>
            <a:ext cx="4572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sz="1600"/>
          </a:p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52232" name="Text Box 8"/>
          <p:cNvSpPr txBox="1">
            <a:spLocks noChangeArrowheads="1"/>
          </p:cNvSpPr>
          <p:nvPr/>
        </p:nvSpPr>
        <p:spPr bwMode="auto">
          <a:xfrm>
            <a:off x="881063" y="533400"/>
            <a:ext cx="43783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Network Management</a:t>
            </a:r>
            <a:endParaRPr lang="en-US" sz="3200"/>
          </a:p>
        </p:txBody>
      </p:sp>
      <p:sp>
        <p:nvSpPr>
          <p:cNvPr id="52233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52234" name="Object 10"/>
          <p:cNvGraphicFramePr>
            <a:graphicFrameLocks noChangeAspect="1"/>
          </p:cNvGraphicFramePr>
          <p:nvPr/>
        </p:nvGraphicFramePr>
        <p:xfrm>
          <a:off x="533400" y="1295400"/>
          <a:ext cx="5791200" cy="3986213"/>
        </p:xfrm>
        <a:graphic>
          <a:graphicData uri="http://schemas.openxmlformats.org/presentationml/2006/ole">
            <p:oleObj spid="_x0000_s52234" name="VISIO" r:id="rId4" imgW="9457560" imgH="6511320" progId="Visio.Drawing.4">
              <p:embed/>
            </p:oleObj>
          </a:graphicData>
        </a:graphic>
      </p:graphicFrame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669925" y="6107113"/>
            <a:ext cx="2479675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OAM&amp;P</a:t>
            </a:r>
          </a:p>
          <a:p>
            <a:pPr lvl="1">
              <a:buFontTx/>
              <a:buChar char="•"/>
            </a:pPr>
            <a:r>
              <a:rPr lang="en-US"/>
              <a:t> Operations</a:t>
            </a:r>
          </a:p>
          <a:p>
            <a:pPr lvl="1">
              <a:buFontTx/>
              <a:buChar char="•"/>
            </a:pPr>
            <a:r>
              <a:rPr lang="en-US"/>
              <a:t> Administration </a:t>
            </a:r>
          </a:p>
          <a:p>
            <a:pPr lvl="1">
              <a:buFontTx/>
              <a:buChar char="•"/>
            </a:pPr>
            <a:r>
              <a:rPr lang="en-US"/>
              <a:t> Maintenance</a:t>
            </a:r>
          </a:p>
          <a:p>
            <a:pPr lvl="1">
              <a:buFontTx/>
              <a:buChar char="•"/>
            </a:pPr>
            <a:r>
              <a:rPr lang="en-US"/>
              <a:t> Provisioning</a:t>
            </a:r>
          </a:p>
        </p:txBody>
      </p:sp>
      <p:sp>
        <p:nvSpPr>
          <p:cNvPr id="52236" name="Rectangle 12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8" name="Text Box 14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75" name="Line 3"/>
          <p:cNvSpPr>
            <a:spLocks noChangeShapeType="1"/>
          </p:cNvSpPr>
          <p:nvPr/>
        </p:nvSpPr>
        <p:spPr bwMode="auto">
          <a:xfrm>
            <a:off x="609600" y="6477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0" y="64770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57912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54280" name="Text Box 8"/>
          <p:cNvSpPr txBox="1">
            <a:spLocks noChangeArrowheads="1"/>
          </p:cNvSpPr>
          <p:nvPr/>
        </p:nvSpPr>
        <p:spPr bwMode="auto">
          <a:xfrm>
            <a:off x="533400" y="533400"/>
            <a:ext cx="53006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NM Functional Flow Chart </a:t>
            </a:r>
            <a:endParaRPr lang="en-US" sz="3200"/>
          </a:p>
        </p:txBody>
      </p:sp>
      <p:sp>
        <p:nvSpPr>
          <p:cNvPr id="54281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54282" name="Object 10"/>
          <p:cNvGraphicFramePr>
            <a:graphicFrameLocks noChangeAspect="1"/>
          </p:cNvGraphicFramePr>
          <p:nvPr/>
        </p:nvGraphicFramePr>
        <p:xfrm>
          <a:off x="685800" y="1295400"/>
          <a:ext cx="5410200" cy="4551363"/>
        </p:xfrm>
        <a:graphic>
          <a:graphicData uri="http://schemas.openxmlformats.org/presentationml/2006/ole">
            <p:oleObj spid="_x0000_s54282" name="VISIO" r:id="rId4" imgW="7139520" imgH="6007680" progId="Visio.Drawing.4">
              <p:embed/>
            </p:oleObj>
          </a:graphicData>
        </a:graphic>
      </p:graphicFrame>
      <p:sp>
        <p:nvSpPr>
          <p:cNvPr id="54283" name="Rectangle 11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54284" name="Line 12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85" name="Text Box 13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323" name="Line 3"/>
          <p:cNvSpPr>
            <a:spLocks noChangeShapeType="1"/>
          </p:cNvSpPr>
          <p:nvPr/>
        </p:nvSpPr>
        <p:spPr bwMode="auto">
          <a:xfrm>
            <a:off x="609600" y="5257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5257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56327" name="Rectangle 7"/>
          <p:cNvSpPr>
            <a:spLocks noChangeArrowheads="1"/>
          </p:cNvSpPr>
          <p:nvPr/>
        </p:nvSpPr>
        <p:spPr bwMode="auto">
          <a:xfrm>
            <a:off x="57912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56328" name="Text Box 8"/>
          <p:cNvSpPr txBox="1">
            <a:spLocks noChangeArrowheads="1"/>
          </p:cNvSpPr>
          <p:nvPr/>
        </p:nvSpPr>
        <p:spPr bwMode="auto">
          <a:xfrm>
            <a:off x="1365250" y="533400"/>
            <a:ext cx="34083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NM Components</a:t>
            </a:r>
            <a:endParaRPr lang="en-US" sz="3200"/>
          </a:p>
        </p:txBody>
      </p:sp>
      <p:sp>
        <p:nvSpPr>
          <p:cNvPr id="56329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56330" name="Object 10"/>
          <p:cNvGraphicFramePr>
            <a:graphicFrameLocks noChangeAspect="1"/>
          </p:cNvGraphicFramePr>
          <p:nvPr/>
        </p:nvGraphicFramePr>
        <p:xfrm>
          <a:off x="1066800" y="1219200"/>
          <a:ext cx="4495800" cy="3929063"/>
        </p:xfrm>
        <a:graphic>
          <a:graphicData uri="http://schemas.openxmlformats.org/presentationml/2006/ole">
            <p:oleObj spid="_x0000_s56330" name="VISIO" r:id="rId4" imgW="3722760" imgH="3253320" progId="Visio.Drawing.4">
              <p:embed/>
            </p:oleObj>
          </a:graphicData>
        </a:graphic>
      </p:graphicFrame>
      <p:sp>
        <p:nvSpPr>
          <p:cNvPr id="56331" name="Rectangle 11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56332" name="Line 12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333" name="Text Box 13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371" name="Line 3"/>
          <p:cNvSpPr>
            <a:spLocks noChangeShapeType="1"/>
          </p:cNvSpPr>
          <p:nvPr/>
        </p:nvSpPr>
        <p:spPr bwMode="auto">
          <a:xfrm>
            <a:off x="609600" y="69342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0" y="69342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57912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1512888" y="533400"/>
            <a:ext cx="31146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Interoperability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58377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graphicFrame>
        <p:nvGraphicFramePr>
          <p:cNvPr id="58378" name="Object 10"/>
          <p:cNvGraphicFramePr>
            <a:graphicFrameLocks noChangeAspect="1"/>
          </p:cNvGraphicFramePr>
          <p:nvPr/>
        </p:nvGraphicFramePr>
        <p:xfrm>
          <a:off x="381000" y="1143000"/>
          <a:ext cx="6061075" cy="2414588"/>
        </p:xfrm>
        <a:graphic>
          <a:graphicData uri="http://schemas.openxmlformats.org/presentationml/2006/ole">
            <p:oleObj spid="_x0000_s58378" name="VISIO" r:id="rId4" imgW="6441480" imgH="2567520" progId="Visio.Drawing.4">
              <p:embed/>
            </p:oleObj>
          </a:graphicData>
        </a:graphic>
      </p:graphicFrame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609600" y="7315200"/>
            <a:ext cx="552291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Message exchange between NMSs managing</a:t>
            </a:r>
            <a:br>
              <a:rPr lang="en-US"/>
            </a:br>
            <a:r>
              <a:rPr lang="en-US"/>
              <a:t>  different domains</a:t>
            </a:r>
          </a:p>
        </p:txBody>
      </p:sp>
      <p:graphicFrame>
        <p:nvGraphicFramePr>
          <p:cNvPr id="58380" name="Object 12"/>
          <p:cNvGraphicFramePr>
            <a:graphicFrameLocks noChangeAspect="1"/>
          </p:cNvGraphicFramePr>
          <p:nvPr/>
        </p:nvGraphicFramePr>
        <p:xfrm>
          <a:off x="609600" y="3886200"/>
          <a:ext cx="5334000" cy="2786063"/>
        </p:xfrm>
        <a:graphic>
          <a:graphicData uri="http://schemas.openxmlformats.org/presentationml/2006/ole">
            <p:oleObj spid="_x0000_s58380" name="VISIO" r:id="rId5" imgW="5812920" imgH="3036960" progId="Visio.Drawing.4">
              <p:embed/>
            </p:oleObj>
          </a:graphicData>
        </a:graphic>
      </p:graphicFrame>
      <p:sp>
        <p:nvSpPr>
          <p:cNvPr id="58381" name="Rectangle 13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58382" name="Line 14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383" name="Text Box 15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Line 2"/>
          <p:cNvSpPr>
            <a:spLocks noChangeShapeType="1"/>
          </p:cNvSpPr>
          <p:nvPr/>
        </p:nvSpPr>
        <p:spPr bwMode="auto">
          <a:xfrm>
            <a:off x="533400" y="5334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0419" name="Line 3"/>
          <p:cNvSpPr>
            <a:spLocks noChangeShapeType="1"/>
          </p:cNvSpPr>
          <p:nvPr/>
        </p:nvSpPr>
        <p:spPr bwMode="auto">
          <a:xfrm>
            <a:off x="609600" y="5257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5257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lvl="1"/>
            <a:r>
              <a:rPr lang="en-US" sz="2400" b="1"/>
              <a:t>Notes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60423" name="Rectangle 7"/>
          <p:cNvSpPr>
            <a:spLocks noChangeArrowheads="1"/>
          </p:cNvSpPr>
          <p:nvPr/>
        </p:nvSpPr>
        <p:spPr bwMode="auto">
          <a:xfrm>
            <a:off x="5791200" y="8382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  </a:t>
            </a:r>
            <a:endParaRPr lang="en-US" sz="1600" b="1"/>
          </a:p>
        </p:txBody>
      </p:sp>
      <p:sp>
        <p:nvSpPr>
          <p:cNvPr id="60424" name="Text Box 8"/>
          <p:cNvSpPr txBox="1">
            <a:spLocks noChangeArrowheads="1"/>
          </p:cNvSpPr>
          <p:nvPr/>
        </p:nvSpPr>
        <p:spPr bwMode="auto">
          <a:xfrm>
            <a:off x="522288" y="533400"/>
            <a:ext cx="56499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3200" b="1"/>
              <a:t>Status and Future Trends</a:t>
            </a:r>
            <a:endParaRPr lang="en-US" sz="3200"/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5334000" y="228600"/>
            <a:ext cx="850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Chapter 1</a:t>
            </a:r>
          </a:p>
        </p:txBody>
      </p:sp>
      <p:sp>
        <p:nvSpPr>
          <p:cNvPr id="60426" name="Text Box 10"/>
          <p:cNvSpPr txBox="1">
            <a:spLocks noChangeArrowheads="1"/>
          </p:cNvSpPr>
          <p:nvPr/>
        </p:nvSpPr>
        <p:spPr bwMode="auto">
          <a:xfrm>
            <a:off x="517525" y="1458913"/>
            <a:ext cx="4483100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Status: </a:t>
            </a:r>
          </a:p>
          <a:p>
            <a:pPr lvl="1">
              <a:buFontTx/>
              <a:buChar char="•"/>
            </a:pPr>
            <a:r>
              <a:rPr lang="en-US"/>
              <a:t> SNMP management</a:t>
            </a:r>
          </a:p>
          <a:p>
            <a:pPr lvl="1">
              <a:buFontTx/>
              <a:buChar char="•"/>
            </a:pPr>
            <a:r>
              <a:rPr lang="en-US"/>
              <a:t> Limited CMIP management</a:t>
            </a:r>
          </a:p>
          <a:p>
            <a:pPr lvl="1">
              <a:buFontTx/>
              <a:buChar char="•"/>
            </a:pPr>
            <a:r>
              <a:rPr lang="en-US"/>
              <a:t> Operations systems</a:t>
            </a:r>
          </a:p>
          <a:p>
            <a:pPr lvl="1">
              <a:buFontTx/>
              <a:buChar char="•"/>
            </a:pPr>
            <a:r>
              <a:rPr lang="en-US"/>
              <a:t> Polled systems</a:t>
            </a:r>
          </a:p>
          <a:p>
            <a:pPr>
              <a:buFontTx/>
              <a:buChar char="•"/>
            </a:pPr>
            <a:r>
              <a:rPr lang="en-US"/>
              <a:t> Future trends:</a:t>
            </a:r>
          </a:p>
          <a:p>
            <a:pPr lvl="1">
              <a:buFontTx/>
              <a:buChar char="•"/>
            </a:pPr>
            <a:r>
              <a:rPr lang="en-US"/>
              <a:t> Object-oriented approach</a:t>
            </a:r>
          </a:p>
          <a:p>
            <a:pPr lvl="1">
              <a:buFontTx/>
              <a:buChar char="•"/>
            </a:pPr>
            <a:r>
              <a:rPr lang="en-US"/>
              <a:t> Service and policy management </a:t>
            </a:r>
          </a:p>
          <a:p>
            <a:pPr lvl="1">
              <a:buFontTx/>
              <a:buChar char="•"/>
            </a:pPr>
            <a:r>
              <a:rPr lang="en-US"/>
              <a:t> Business management</a:t>
            </a:r>
          </a:p>
          <a:p>
            <a:pPr lvl="1">
              <a:buFontTx/>
              <a:buChar char="•"/>
            </a:pPr>
            <a:r>
              <a:rPr lang="en-US"/>
              <a:t> Web-based management</a:t>
            </a:r>
          </a:p>
        </p:txBody>
      </p:sp>
      <p:sp>
        <p:nvSpPr>
          <p:cNvPr id="60427" name="Rectangle 11"/>
          <p:cNvSpPr>
            <a:spLocks noChangeArrowheads="1"/>
          </p:cNvSpPr>
          <p:nvPr/>
        </p:nvSpPr>
        <p:spPr bwMode="auto">
          <a:xfrm>
            <a:off x="1828800" y="8458200"/>
            <a:ext cx="330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Network Management: Principles and Practice</a:t>
            </a:r>
          </a:p>
          <a:p>
            <a:r>
              <a:rPr lang="en-US" sz="1200"/>
              <a:t>©  Mani Subramanian 2000</a:t>
            </a:r>
          </a:p>
        </p:txBody>
      </p:sp>
      <p:sp>
        <p:nvSpPr>
          <p:cNvPr id="60428" name="Line 12"/>
          <p:cNvSpPr>
            <a:spLocks noChangeShapeType="1"/>
          </p:cNvSpPr>
          <p:nvPr/>
        </p:nvSpPr>
        <p:spPr bwMode="auto">
          <a:xfrm>
            <a:off x="609600" y="8382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0429" name="Text Box 13"/>
          <p:cNvSpPr txBox="1">
            <a:spLocks noChangeArrowheads="1"/>
          </p:cNvSpPr>
          <p:nvPr/>
        </p:nvSpPr>
        <p:spPr bwMode="auto">
          <a:xfrm>
            <a:off x="5851525" y="8469313"/>
            <a:ext cx="5381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1-29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1052</Words>
  <Application>Microsoft PowerPoint</Application>
  <PresentationFormat>On-screen Show (4:3)</PresentationFormat>
  <Paragraphs>350</Paragraphs>
  <Slides>29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Times New Roman</vt:lpstr>
      <vt:lpstr>Arial</vt:lpstr>
      <vt:lpstr>Office Theme</vt:lpstr>
      <vt:lpstr>VISIO 4 Drawing</vt:lpstr>
      <vt:lpstr>Microsoft Word Document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Georgia Institute of Technology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Mani Subramanian</dc:creator>
  <cp:lastModifiedBy>Preeti Saxena</cp:lastModifiedBy>
  <cp:revision>25</cp:revision>
  <cp:lastPrinted>2000-01-18T03:47:47Z</cp:lastPrinted>
  <dcterms:created xsi:type="dcterms:W3CDTF">1998-07-05T01:48:36Z</dcterms:created>
  <dcterms:modified xsi:type="dcterms:W3CDTF">2026-09-11T07:07:18Z</dcterms:modified>
</cp:coreProperties>
</file>